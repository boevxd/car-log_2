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1" r:id="rId2"/>
    <p:sldId id="257" r:id="rId3"/>
    <p:sldId id="262" r:id="rId4"/>
    <p:sldId id="264" r:id="rId5"/>
    <p:sldId id="276" r:id="rId6"/>
    <p:sldId id="266" r:id="rId7"/>
    <p:sldId id="272" r:id="rId8"/>
    <p:sldId id="273" r:id="rId9"/>
    <p:sldId id="267" r:id="rId10"/>
    <p:sldId id="268" r:id="rId11"/>
    <p:sldId id="269" r:id="rId12"/>
    <p:sldId id="270" r:id="rId13"/>
    <p:sldId id="271" r:id="rId14"/>
  </p:sldIdLst>
  <p:sldSz cx="12192000" cy="6858000"/>
  <p:notesSz cx="6858000" cy="12192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50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Group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>
            <a:spLocks noGrp="1"/>
          </p:cNvSpPr>
          <p:nvPr>
            <p:ph type="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defPPr/>
            <a:lvl1pPr lvl="0" algn="ctr">
              <a:defRPr sz="6000"/>
            </a:lvl1pPr>
          </a:lstStyle>
          <a:p>
            <a:r>
              <a:t>Образец заголовка</a:t>
            </a:r>
          </a:p>
        </p:txBody>
      </p:sp>
      <p:sp>
        <p:nvSpPr>
          <p:cNvPr id="15" name="Shape 1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defPPr/>
            <a:lvl1pPr marL="0" lvl="0" indent="0" algn="ctr">
              <a:buNone/>
              <a:defRPr sz="2400"/>
            </a:lvl1pPr>
            <a:lvl2pPr marL="457200" lvl="1" indent="0" algn="ctr">
              <a:buNone/>
              <a:defRPr sz="2000"/>
            </a:lvl2pPr>
            <a:lvl3pPr marL="914400" lvl="2" indent="0" algn="ctr">
              <a:buNone/>
              <a:defRPr sz="1800"/>
            </a:lvl3pPr>
            <a:lvl4pPr marL="1371600" lvl="3" indent="0" algn="ctr">
              <a:buNone/>
              <a:defRPr sz="1600"/>
            </a:lvl4pPr>
            <a:lvl5pPr marL="1828800" lvl="4" indent="0" algn="ctr">
              <a:buNone/>
              <a:defRPr sz="1600"/>
            </a:lvl5pPr>
            <a:lvl6pPr marL="2286000" lvl="5" indent="0" algn="ctr">
              <a:buNone/>
              <a:defRPr sz="1600"/>
            </a:lvl6pPr>
            <a:lvl7pPr marL="2743200" lvl="6" indent="0" algn="ctr">
              <a:buNone/>
              <a:defRPr sz="1600"/>
            </a:lvl7pPr>
            <a:lvl8pPr marL="3200400" lvl="7" indent="0" algn="ctr">
              <a:buNone/>
              <a:defRPr sz="1600"/>
            </a:lvl8pPr>
            <a:lvl9pPr marL="3657600" lvl="8" indent="0" algn="ctr">
              <a:buNone/>
              <a:defRPr sz="1600"/>
            </a:lvl9pPr>
          </a:lstStyle>
          <a:p>
            <a:r>
              <a:t>Образец подзаголовка</a:t>
            </a:r>
          </a:p>
        </p:txBody>
      </p:sp>
      <p:sp>
        <p:nvSpPr>
          <p:cNvPr id="16" name="Shape 16"/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22.07.2022</a:t>
            </a:r>
          </a:p>
        </p:txBody>
      </p:sp>
      <p:sp>
        <p:nvSpPr>
          <p:cNvPr id="17" name="Shape 17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endParaRPr/>
          </a:p>
        </p:txBody>
      </p:sp>
      <p:sp>
        <p:nvSpPr>
          <p:cNvPr id="18" name="Shape 18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‹#›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Group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Образец заголовка</a:t>
            </a:r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lvl="0"/>
            <a:r>
              <a:t>Образец текста</a:t>
            </a:r>
          </a:p>
          <a:p>
            <a:pPr lvl="1"/>
            <a:r>
              <a:t>Второй уровень</a:t>
            </a:r>
          </a:p>
          <a:p>
            <a:pPr lvl="2"/>
            <a:r>
              <a:t>Третий уровень</a:t>
            </a:r>
          </a:p>
          <a:p>
            <a:pPr lvl="3"/>
            <a:r>
              <a:t>Четвертый уровень</a:t>
            </a:r>
          </a:p>
          <a:p>
            <a:pPr lvl="4"/>
            <a:r>
              <a:t>Пятый уровень</a:t>
            </a:r>
          </a:p>
        </p:txBody>
      </p:sp>
      <p:sp>
        <p:nvSpPr>
          <p:cNvPr id="33" name="Shape 33"/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22.07.2022</a:t>
            </a:r>
          </a:p>
        </p:txBody>
      </p:sp>
      <p:sp>
        <p:nvSpPr>
          <p:cNvPr id="34" name="Shape 34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endParaRPr/>
          </a:p>
        </p:txBody>
      </p:sp>
      <p:sp>
        <p:nvSpPr>
          <p:cNvPr id="35" name="Shape 3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‹#›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Title and Subtitle">
    <p:spTree>
      <p:nvGrpSpPr>
        <p:cNvPr id="1" name="Group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defPPr/>
            <a:lvl1pPr lvl="0">
              <a:defRPr sz="6000"/>
            </a:lvl1pPr>
          </a:lstStyle>
          <a:p>
            <a:r>
              <a:t>Образец заголовка</a:t>
            </a:r>
          </a:p>
        </p:txBody>
      </p:sp>
      <p:sp>
        <p:nvSpPr>
          <p:cNvPr id="9" name="Shape 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defPPr/>
            <a:lvl1pPr marL="0" lv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lvl="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t>Образец текста</a:t>
            </a:r>
          </a:p>
        </p:txBody>
      </p:sp>
      <p:sp>
        <p:nvSpPr>
          <p:cNvPr id="10" name="Shape 10"/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22.07.2022</a:t>
            </a:r>
          </a:p>
        </p:txBody>
      </p:sp>
      <p:sp>
        <p:nvSpPr>
          <p:cNvPr id="11" name="Shape 11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‹#›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Slide Title">
    <p:spTree>
      <p:nvGrpSpPr>
        <p:cNvPr id="1" name="Group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Образец заголовка</a:t>
            </a:r>
          </a:p>
        </p:txBody>
      </p:sp>
      <p:sp>
        <p:nvSpPr>
          <p:cNvPr id="27" name="Shape 27"/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22.07.2022</a:t>
            </a:r>
          </a:p>
        </p:txBody>
      </p:sp>
      <p:sp>
        <p:nvSpPr>
          <p:cNvPr id="28" name="Shape 28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endParaRPr/>
          </a:p>
        </p:txBody>
      </p:sp>
      <p:sp>
        <p:nvSpPr>
          <p:cNvPr id="29" name="Shape 2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‹#›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itle and Two Columns">
    <p:spTree>
      <p:nvGrpSpPr>
        <p:cNvPr id="1" name="Group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6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Образец заголовка</a:t>
            </a:r>
          </a:p>
        </p:txBody>
      </p:sp>
      <p:sp>
        <p:nvSpPr>
          <p:cNvPr id="64" name="Shape 6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lvl="0"/>
            <a:r>
              <a:t>Образец текста</a:t>
            </a:r>
          </a:p>
          <a:p>
            <a:pPr lvl="1"/>
            <a:r>
              <a:t>Второй уровень</a:t>
            </a:r>
          </a:p>
          <a:p>
            <a:pPr lvl="2"/>
            <a:r>
              <a:t>Третий уровень</a:t>
            </a:r>
          </a:p>
          <a:p>
            <a:pPr lvl="3"/>
            <a:r>
              <a:t>Четвертый уровень</a:t>
            </a:r>
          </a:p>
          <a:p>
            <a:pPr lvl="4"/>
            <a:r>
              <a:t>Пятый уровень</a:t>
            </a:r>
          </a:p>
        </p:txBody>
      </p:sp>
      <p:sp>
        <p:nvSpPr>
          <p:cNvPr id="65" name="Shape 6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lvl="0"/>
            <a:r>
              <a:t>Образец текста</a:t>
            </a:r>
          </a:p>
          <a:p>
            <a:pPr lvl="1"/>
            <a:r>
              <a:t>Второй уровень</a:t>
            </a:r>
          </a:p>
          <a:p>
            <a:pPr lvl="2"/>
            <a:r>
              <a:t>Третий уровень</a:t>
            </a:r>
          </a:p>
          <a:p>
            <a:pPr lvl="3"/>
            <a:r>
              <a:t>Четвертый уровень</a:t>
            </a:r>
          </a:p>
          <a:p>
            <a:pPr lvl="4"/>
            <a:r>
              <a:t>Пятый уровень</a:t>
            </a:r>
          </a:p>
        </p:txBody>
      </p:sp>
      <p:sp>
        <p:nvSpPr>
          <p:cNvPr id="66" name="Shape 66"/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22.07.2022</a:t>
            </a:r>
          </a:p>
        </p:txBody>
      </p:sp>
      <p:sp>
        <p:nvSpPr>
          <p:cNvPr id="67" name="Shape 67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endParaRPr/>
          </a:p>
        </p:txBody>
      </p:sp>
      <p:sp>
        <p:nvSpPr>
          <p:cNvPr id="68" name="Shape 68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‹#›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Group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52"/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22.07.2022</a:t>
            </a:r>
          </a:p>
        </p:txBody>
      </p:sp>
      <p:sp>
        <p:nvSpPr>
          <p:cNvPr id="53" name="Shape 53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endParaRPr/>
          </a:p>
        </p:txBody>
      </p:sp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‹#›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Group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2"/>
          </a:xfrm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Образец заголовка</a:t>
            </a:r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1"/>
          </a:xfrm>
          <a:prstGeom prst="rect">
            <a:avLst/>
          </a:prstGeom>
        </p:spPr>
        <p:txBody>
          <a:bodyPr anchor="b"/>
          <a:lstStyle>
            <a:defPPr/>
            <a:lvl1pPr marL="0" lvl="0" indent="0">
              <a:buNone/>
              <a:defRPr sz="2400" b="1"/>
            </a:lvl1pPr>
            <a:lvl2pPr marL="457200" lvl="1" indent="0">
              <a:buNone/>
              <a:defRPr sz="2000" b="1"/>
            </a:lvl2pPr>
            <a:lvl3pPr marL="914400" lvl="2" indent="0">
              <a:buNone/>
              <a:defRPr sz="1800" b="1"/>
            </a:lvl3pPr>
            <a:lvl4pPr marL="1371600" lvl="3" indent="0">
              <a:buNone/>
              <a:defRPr sz="1600" b="1"/>
            </a:lvl4pPr>
            <a:lvl5pPr marL="1828800" lvl="4" indent="0">
              <a:buNone/>
              <a:defRPr sz="1600" b="1"/>
            </a:lvl5pPr>
            <a:lvl6pPr marL="2286000" lvl="5" indent="0">
              <a:buNone/>
              <a:defRPr sz="1600" b="1"/>
            </a:lvl6pPr>
            <a:lvl7pPr marL="2743200" lvl="6" indent="0">
              <a:buNone/>
              <a:defRPr sz="1600" b="1"/>
            </a:lvl7pPr>
            <a:lvl8pPr marL="3200400" lvl="7" indent="0">
              <a:buNone/>
              <a:defRPr sz="1600" b="1"/>
            </a:lvl8pPr>
            <a:lvl9pPr marL="3657600" lvl="8" indent="0">
              <a:buNone/>
              <a:defRPr sz="1600" b="1"/>
            </a:lvl9pPr>
          </a:lstStyle>
          <a:p>
            <a:pPr lvl="0"/>
            <a:r>
              <a:t>Образец текста</a:t>
            </a:r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lvl="0"/>
            <a:r>
              <a:t>Образец текста</a:t>
            </a:r>
          </a:p>
          <a:p>
            <a:pPr lvl="1"/>
            <a:r>
              <a:t>Второй уровень</a:t>
            </a:r>
          </a:p>
          <a:p>
            <a:pPr lvl="2"/>
            <a:r>
              <a:t>Третий уровень</a:t>
            </a:r>
          </a:p>
          <a:p>
            <a:pPr lvl="3"/>
            <a:r>
              <a:t>Четвертый уровень</a:t>
            </a:r>
          </a:p>
          <a:p>
            <a:pPr lvl="4"/>
            <a:r>
              <a:t>Пятый уровень</a:t>
            </a:r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7" cy="823911"/>
          </a:xfrm>
          <a:prstGeom prst="rect">
            <a:avLst/>
          </a:prstGeom>
        </p:spPr>
        <p:txBody>
          <a:bodyPr anchor="b"/>
          <a:lstStyle>
            <a:defPPr/>
            <a:lvl1pPr marL="0" lvl="0" indent="0">
              <a:buNone/>
              <a:defRPr sz="2400" b="1"/>
            </a:lvl1pPr>
            <a:lvl2pPr marL="457200" lvl="1" indent="0">
              <a:buNone/>
              <a:defRPr sz="2000" b="1"/>
            </a:lvl2pPr>
            <a:lvl3pPr marL="914400" lvl="2" indent="0">
              <a:buNone/>
              <a:defRPr sz="1800" b="1"/>
            </a:lvl3pPr>
            <a:lvl4pPr marL="1371600" lvl="3" indent="0">
              <a:buNone/>
              <a:defRPr sz="1600" b="1"/>
            </a:lvl4pPr>
            <a:lvl5pPr marL="1828800" lvl="4" indent="0">
              <a:buNone/>
              <a:defRPr sz="1600" b="1"/>
            </a:lvl5pPr>
            <a:lvl6pPr marL="2286000" lvl="5" indent="0">
              <a:buNone/>
              <a:defRPr sz="1600" b="1"/>
            </a:lvl6pPr>
            <a:lvl7pPr marL="2743200" lvl="6" indent="0">
              <a:buNone/>
              <a:defRPr sz="1600" b="1"/>
            </a:lvl7pPr>
            <a:lvl8pPr marL="3200400" lvl="7" indent="0">
              <a:buNone/>
              <a:defRPr sz="1600" b="1"/>
            </a:lvl8pPr>
            <a:lvl9pPr marL="3657600" lvl="8" indent="0">
              <a:buNone/>
              <a:defRPr sz="1600" b="1"/>
            </a:lvl9pPr>
          </a:lstStyle>
          <a:p>
            <a:pPr lvl="0"/>
            <a:r>
              <a:t>Образец текста</a:t>
            </a:r>
          </a:p>
        </p:txBody>
      </p:sp>
      <p:sp>
        <p:nvSpPr>
          <p:cNvPr id="41" name="Shape 4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7" cy="3684588"/>
          </a:xfrm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lvl="0"/>
            <a:r>
              <a:t>Образец текста</a:t>
            </a:r>
          </a:p>
          <a:p>
            <a:pPr lvl="1"/>
            <a:r>
              <a:t>Второй уровень</a:t>
            </a:r>
          </a:p>
          <a:p>
            <a:pPr lvl="2"/>
            <a:r>
              <a:t>Третий уровень</a:t>
            </a:r>
          </a:p>
          <a:p>
            <a:pPr lvl="3"/>
            <a:r>
              <a:t>Четвертый уровень</a:t>
            </a:r>
          </a:p>
          <a:p>
            <a:pPr lvl="4"/>
            <a:r>
              <a:t>Пятый уровень</a:t>
            </a:r>
          </a:p>
        </p:txBody>
      </p:sp>
      <p:sp>
        <p:nvSpPr>
          <p:cNvPr id="42" name="Shape 42"/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22.07.2022</a:t>
            </a:r>
          </a:p>
        </p:txBody>
      </p:sp>
      <p:sp>
        <p:nvSpPr>
          <p:cNvPr id="43" name="Shape 43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endParaRPr/>
          </a:p>
        </p:txBody>
      </p:sp>
      <p:sp>
        <p:nvSpPr>
          <p:cNvPr id="44" name="Shape 4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‹#›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Title, Text and Object">
    <p:spTree>
      <p:nvGrpSpPr>
        <p:cNvPr id="1" name="Group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7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defPPr/>
            <a:lvl1pPr lvl="0">
              <a:defRPr sz="3200"/>
            </a:lvl1pPr>
          </a:lstStyle>
          <a:p>
            <a:r>
              <a:t>Образец заголовка</a:t>
            </a:r>
          </a:p>
        </p:txBody>
      </p:sp>
      <p:sp>
        <p:nvSpPr>
          <p:cNvPr id="71" name="Shape 7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199" cy="4873625"/>
          </a:xfrm>
          <a:prstGeom prst="rect">
            <a:avLst/>
          </a:prstGeom>
        </p:spPr>
        <p:txBody>
          <a:bodyPr/>
          <a:lstStyle>
            <a:defPPr/>
            <a:lvl1pPr lvl="0">
              <a:defRPr sz="3200"/>
            </a:lvl1pPr>
            <a:lvl2pPr lvl="1">
              <a:defRPr sz="2800"/>
            </a:lvl2pPr>
            <a:lvl3pPr lvl="2">
              <a:defRPr sz="2400"/>
            </a:lvl3pPr>
            <a:lvl4pPr lvl="3">
              <a:defRPr sz="2000"/>
            </a:lvl4pPr>
            <a:lvl5pPr lvl="4">
              <a:defRPr sz="2000"/>
            </a:lvl5pPr>
            <a:lvl6pPr lvl="5">
              <a:defRPr sz="2000"/>
            </a:lvl6pPr>
            <a:lvl7pPr lvl="6">
              <a:defRPr sz="2000"/>
            </a:lvl7pPr>
            <a:lvl8pPr lvl="7">
              <a:defRPr sz="2000"/>
            </a:lvl8pPr>
            <a:lvl9pPr lvl="8">
              <a:defRPr sz="2000"/>
            </a:lvl9pPr>
          </a:lstStyle>
          <a:p>
            <a:pPr lvl="0"/>
            <a:r>
              <a:t>Образец текста</a:t>
            </a:r>
          </a:p>
          <a:p>
            <a:pPr lvl="1"/>
            <a:r>
              <a:t>Второй уровень</a:t>
            </a:r>
          </a:p>
          <a:p>
            <a:pPr lvl="2"/>
            <a:r>
              <a:t>Третий уровень</a:t>
            </a:r>
          </a:p>
          <a:p>
            <a:pPr lvl="3"/>
            <a:r>
              <a:t>Четвертый уровень</a:t>
            </a:r>
          </a:p>
          <a:p>
            <a:pPr lvl="4"/>
            <a:r>
              <a:t>Пятый уровень</a:t>
            </a:r>
          </a:p>
        </p:txBody>
      </p:sp>
      <p:sp>
        <p:nvSpPr>
          <p:cNvPr id="72" name="Shape 7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defPPr/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t>Образец текста</a:t>
            </a:r>
          </a:p>
        </p:txBody>
      </p:sp>
      <p:sp>
        <p:nvSpPr>
          <p:cNvPr id="73" name="Shape 73"/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22.07.2022</a:t>
            </a:r>
          </a:p>
        </p:txBody>
      </p:sp>
      <p:sp>
        <p:nvSpPr>
          <p:cNvPr id="74" name="Shape 74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endParaRPr/>
          </a:p>
        </p:txBody>
      </p:sp>
      <p:sp>
        <p:nvSpPr>
          <p:cNvPr id="75" name="Shape 7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‹#›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Title and Picture">
    <p:spTree>
      <p:nvGrpSpPr>
        <p:cNvPr id="1" name="Group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defPPr/>
            <a:lvl1pPr lvl="0">
              <a:defRPr sz="3200"/>
            </a:lvl1pPr>
          </a:lstStyle>
          <a:p>
            <a:r>
              <a:t>Образец заголовка</a:t>
            </a:r>
          </a:p>
        </p:txBody>
      </p:sp>
      <p:sp>
        <p:nvSpPr>
          <p:cNvPr id="57" name="Shape 5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199" cy="4873625"/>
          </a:xfrm>
          <a:prstGeom prst="rect">
            <a:avLst/>
          </a:prstGeom>
        </p:spPr>
        <p:txBody>
          <a:bodyPr/>
          <a:lstStyle>
            <a:defPPr/>
            <a:lvl1pPr marL="0" lvl="0" indent="0">
              <a:buNone/>
              <a:defRPr sz="3200"/>
            </a:lvl1pPr>
            <a:lvl2pPr marL="457200" lvl="1" indent="0">
              <a:buNone/>
              <a:defRPr sz="2800"/>
            </a:lvl2pPr>
            <a:lvl3pPr marL="914400" lvl="2" indent="0">
              <a:buNone/>
              <a:defRPr sz="2400"/>
            </a:lvl3pPr>
            <a:lvl4pPr marL="1371600" lvl="3" indent="0">
              <a:buNone/>
              <a:defRPr sz="2000"/>
            </a:lvl4pPr>
            <a:lvl5pPr marL="1828800" lvl="4" indent="0">
              <a:buNone/>
              <a:defRPr sz="2000"/>
            </a:lvl5pPr>
            <a:lvl6pPr marL="2286000" lvl="5" indent="0">
              <a:buNone/>
              <a:defRPr sz="2000"/>
            </a:lvl6pPr>
            <a:lvl7pPr marL="2743200" lvl="6" indent="0">
              <a:buNone/>
              <a:defRPr sz="2000"/>
            </a:lvl7pPr>
            <a:lvl8pPr marL="3200400" lvl="7" indent="0">
              <a:buNone/>
              <a:defRPr sz="2000"/>
            </a:lvl8pPr>
            <a:lvl9pPr marL="3657600" lvl="8" indent="0">
              <a:buNone/>
              <a:defRPr sz="2000"/>
            </a:lvl9pPr>
          </a:lstStyle>
          <a:p>
            <a:endParaRPr/>
          </a:p>
        </p:txBody>
      </p:sp>
      <p:sp>
        <p:nvSpPr>
          <p:cNvPr id="58" name="Shape 5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defPPr/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t>Образец текста</a:t>
            </a:r>
          </a:p>
        </p:txBody>
      </p:sp>
      <p:sp>
        <p:nvSpPr>
          <p:cNvPr id="59" name="Shape 59"/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22.07.2022</a:t>
            </a:r>
          </a:p>
        </p:txBody>
      </p:sp>
      <p:sp>
        <p:nvSpPr>
          <p:cNvPr id="60" name="Shape 60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endParaRPr/>
          </a:p>
        </p:txBody>
      </p:sp>
      <p:sp>
        <p:nvSpPr>
          <p:cNvPr id="61" name="Shape 61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‹#›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Group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Образец заголовка</a:t>
            </a:r>
          </a:p>
        </p:txBody>
      </p:sp>
      <p:sp>
        <p:nvSpPr>
          <p:cNvPr id="21" name="Shape 2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eaVert"/>
          <a:lstStyle>
            <a:defPPr/>
            <a:lvl1pPr lvl="0"/>
          </a:lstStyle>
          <a:p>
            <a:pPr lvl="0"/>
            <a:r>
              <a:t>Образец текста</a:t>
            </a:r>
          </a:p>
          <a:p>
            <a:pPr lvl="1"/>
            <a:r>
              <a:t>Второй уровень</a:t>
            </a:r>
          </a:p>
          <a:p>
            <a:pPr lvl="2"/>
            <a:r>
              <a:t>Третий уровень</a:t>
            </a:r>
          </a:p>
          <a:p>
            <a:pPr lvl="3"/>
            <a:r>
              <a:t>Четвертый уровень</a:t>
            </a:r>
          </a:p>
          <a:p>
            <a:pPr lvl="4"/>
            <a:r>
              <a:t>Пятый уровень</a:t>
            </a:r>
          </a:p>
        </p:txBody>
      </p:sp>
      <p:sp>
        <p:nvSpPr>
          <p:cNvPr id="22" name="Shape 22"/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22.07.2022</a:t>
            </a:r>
          </a:p>
        </p:txBody>
      </p:sp>
      <p:sp>
        <p:nvSpPr>
          <p:cNvPr id="23" name="Shape 23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endParaRPr/>
          </a:p>
        </p:txBody>
      </p:sp>
      <p:sp>
        <p:nvSpPr>
          <p:cNvPr id="24" name="Shape 2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‹#›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Group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46"/>
          <p:cNvSpPr txBox="1"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>
            <a:defPPr/>
            <a:lvl1pPr lvl="0"/>
          </a:lstStyle>
          <a:p>
            <a:r>
              <a:t>Образец заголовка</a:t>
            </a:r>
          </a:p>
        </p:txBody>
      </p:sp>
      <p:sp>
        <p:nvSpPr>
          <p:cNvPr id="47" name="Shape 47"/>
          <p:cNvSpPr txBox="1"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>
            <a:defPPr/>
            <a:lvl1pPr lvl="0"/>
          </a:lstStyle>
          <a:p>
            <a:pPr lvl="0"/>
            <a:r>
              <a:t>Образец текста</a:t>
            </a:r>
          </a:p>
          <a:p>
            <a:pPr lvl="1"/>
            <a:r>
              <a:t>Второй уровень</a:t>
            </a:r>
          </a:p>
          <a:p>
            <a:pPr lvl="2"/>
            <a:r>
              <a:t>Третий уровень</a:t>
            </a:r>
          </a:p>
          <a:p>
            <a:pPr lvl="3"/>
            <a:r>
              <a:t>Четвертый уровень</a:t>
            </a:r>
          </a:p>
          <a:p>
            <a:pPr lvl="4"/>
            <a:r>
              <a:t>Пятый уровень</a:t>
            </a:r>
          </a:p>
        </p:txBody>
      </p:sp>
      <p:sp>
        <p:nvSpPr>
          <p:cNvPr id="48" name="Shape 48"/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22.07.2022</a:t>
            </a:r>
          </a:p>
        </p:txBody>
      </p:sp>
      <p:sp>
        <p:nvSpPr>
          <p:cNvPr id="49" name="Shape 49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endParaRPr/>
          </a:p>
        </p:txBody>
      </p:sp>
      <p:sp>
        <p:nvSpPr>
          <p:cNvPr id="50" name="Shape 50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‹#›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Group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Образец заголовка</a:t>
            </a:r>
          </a:p>
        </p:txBody>
      </p:sp>
      <p:sp>
        <p:nvSpPr>
          <p:cNvPr id="3" name="Shape 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/>
            <a:r>
              <a:t>Образец текста</a:t>
            </a:r>
          </a:p>
          <a:p>
            <a:pPr lvl="1"/>
            <a:r>
              <a:t>Второй уровень</a:t>
            </a:r>
          </a:p>
          <a:p>
            <a:pPr lvl="2"/>
            <a:r>
              <a:t>Третий уровень</a:t>
            </a:r>
          </a:p>
          <a:p>
            <a:pPr lvl="3"/>
            <a:r>
              <a:t>Четвертый уровень</a:t>
            </a:r>
          </a:p>
          <a:p>
            <a:pPr lvl="4"/>
            <a:r>
              <a:t>Пятый уровень</a:t>
            </a:r>
          </a:p>
        </p:txBody>
      </p:sp>
      <p:sp>
        <p:nvSpPr>
          <p:cNvPr id="4" name="Shape 4"/>
          <p:cNvSpPr txBox="1"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defPPr/>
            <a:lvl1pPr marL="0" lvl="0" indent="0"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lvl="1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22.07.2022</a:t>
            </a:r>
          </a:p>
        </p:txBody>
      </p:sp>
      <p:sp>
        <p:nvSpPr>
          <p:cNvPr id="5" name="Shape 5"/>
          <p:cNvSpPr txBox="1"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defPPr/>
            <a:lvl1pPr marL="0" lvl="0" indent="0"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lvl="1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6" name="Shape 6"/>
          <p:cNvSpPr txBox="1"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defPPr/>
            <a:lvl1pPr marL="0" lvl="0" indent="0" algn="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lvl="1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‹#›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defPPr/>
      <a:lvl1pPr lvl="0" algn="l">
        <a:lnSpc>
          <a:spcPct val="90000"/>
        </a:lnSpc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defPPr/>
      <a:lvl1pPr marL="228600" lvl="0" indent="-228600" algn="l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lvl="1" indent="-228600" algn="l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g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g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jpg"/><Relationship Id="rId5" Type="http://schemas.openxmlformats.org/officeDocument/2006/relationships/image" Target="../media/image17.jpg"/><Relationship Id="rId4" Type="http://schemas.openxmlformats.org/officeDocument/2006/relationships/image" Target="../media/image16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Group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83">
            <a:extLst>
              <a:ext uri="{FF2B5EF4-FFF2-40B4-BE49-F238E27FC236}">
                <a16:creationId xmlns="" xmlns:a16="http://schemas.microsoft.com/office/drawing/2014/main" id="{6D88F202-C18D-06DB-4215-267715D05D4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123592" y="338821"/>
            <a:ext cx="7712915" cy="288072"/>
          </a:xfrm>
          <a:prstGeom prst="rect">
            <a:avLst/>
          </a:prstGeom>
        </p:spPr>
        <p:txBody>
          <a:bodyPr>
            <a:noAutofit/>
          </a:bodyPr>
          <a:lstStyle>
            <a:defPPr/>
            <a:lvl1pPr lvl="0"/>
          </a:lstStyle>
          <a:p>
            <a:pPr algn="r">
              <a:lnSpc>
                <a:spcPct val="120000"/>
              </a:lnSpc>
              <a:spcBef>
                <a:spcPts val="0"/>
              </a:spcBef>
            </a:pPr>
            <a:r>
              <a:rPr lang="ru-RU" sz="1400" b="1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Название дисциплины, МДК</a:t>
            </a:r>
            <a:endParaRPr sz="1400" b="1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Shape 84">
            <a:extLst>
              <a:ext uri="{FF2B5EF4-FFF2-40B4-BE49-F238E27FC236}">
                <a16:creationId xmlns="" xmlns:a16="http://schemas.microsoft.com/office/drawing/2014/main" id="{A4D57298-294C-22E1-C3DA-2082F955C46A}"/>
              </a:ext>
            </a:extLst>
          </p:cNvPr>
          <p:cNvSpPr txBox="1"/>
          <p:nvPr/>
        </p:nvSpPr>
        <p:spPr>
          <a:xfrm>
            <a:off x="666750" y="1743307"/>
            <a:ext cx="11077575" cy="80021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marL="0" indent="0"/>
            <a:r>
              <a:rPr lang="ru-RU" sz="4600" b="1" dirty="0">
                <a:ln/>
                <a:latin typeface="Arial"/>
                <a:ea typeface="Arial"/>
                <a:cs typeface="Arial"/>
              </a:rPr>
              <a:t>Тема лекции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="" xmlns:a16="http://schemas.microsoft.com/office/drawing/2014/main" id="{97F22FEC-BF08-4A5B-8B0C-471A06C6813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70000"/>
            <a:ext cx="12192000" cy="81280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="" xmlns:a16="http://schemas.microsoft.com/office/drawing/2014/main" id="{A709F815-3D3E-496F-91C9-AE467C194A9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152" y="181997"/>
            <a:ext cx="3599695" cy="135331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152DB186-4F37-9527-5566-5D71464DFE34}"/>
              </a:ext>
            </a:extLst>
          </p:cNvPr>
          <p:cNvSpPr txBox="1"/>
          <p:nvPr/>
        </p:nvSpPr>
        <p:spPr>
          <a:xfrm>
            <a:off x="1917183" y="2563167"/>
            <a:ext cx="91249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ПРЕЗЕНТАЦИЯ МОБИЛЬНОГО ПРИЛОЖЕНИЯ </a:t>
            </a: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FitAndEat</a:t>
            </a: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endParaRPr lang="ru-RU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726DB700-8112-F42D-F943-F8F468F7CD04}"/>
              </a:ext>
            </a:extLst>
          </p:cNvPr>
          <p:cNvSpPr txBox="1"/>
          <p:nvPr/>
        </p:nvSpPr>
        <p:spPr>
          <a:xfrm>
            <a:off x="1955283" y="2937102"/>
            <a:ext cx="8824226" cy="465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Специальность 09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02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07 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«Информационные системы и программирование»</a:t>
            </a:r>
            <a:endParaRPr lang="ru-RU" sz="16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685B5E72-C43D-B79A-07E3-EB79833137D0}"/>
              </a:ext>
            </a:extLst>
          </p:cNvPr>
          <p:cNvSpPr txBox="1"/>
          <p:nvPr/>
        </p:nvSpPr>
        <p:spPr>
          <a:xfrm>
            <a:off x="1955283" y="3196147"/>
            <a:ext cx="7695792" cy="465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Дисциплина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«МДК.01.03. Разработка мобильных приложений».</a:t>
            </a:r>
            <a:endParaRPr lang="ru-RU" sz="16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42DEF10A-C1B6-EDEB-34CD-25CF2F9C2B39}"/>
              </a:ext>
            </a:extLst>
          </p:cNvPr>
          <p:cNvSpPr txBox="1"/>
          <p:nvPr/>
        </p:nvSpPr>
        <p:spPr>
          <a:xfrm>
            <a:off x="0" y="6359693"/>
            <a:ext cx="6650182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buNone/>
              <a:tabLst>
                <a:tab pos="1578610" algn="l"/>
                <a:tab pos="3303905" algn="l"/>
                <a:tab pos="4730750" algn="l"/>
                <a:tab pos="6443345" algn="l"/>
              </a:tabLst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Выполнил студент группы 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405ИС-22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Арутюнян Арман</a:t>
            </a:r>
            <a:endParaRPr lang="ru-RU" dirty="0"/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8A2156DA-016A-7E8C-F70F-8A5927CAC53F}"/>
              </a:ext>
            </a:extLst>
          </p:cNvPr>
          <p:cNvSpPr txBox="1"/>
          <p:nvPr/>
        </p:nvSpPr>
        <p:spPr>
          <a:xfrm>
            <a:off x="7980049" y="6433525"/>
            <a:ext cx="41267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Проверил преподаватель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Кусков Ф.В.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00982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Group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52F931B8-0DE3-0136-6BD4-59BCE4575AB1}"/>
              </a:ext>
            </a:extLst>
          </p:cNvPr>
          <p:cNvSpPr txBox="1"/>
          <p:nvPr/>
        </p:nvSpPr>
        <p:spPr>
          <a:xfrm>
            <a:off x="4686299" y="341359"/>
            <a:ext cx="7058025" cy="445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</a:pPr>
            <a:r>
              <a:rPr lang="ru-RU" sz="3600" b="1" dirty="0">
                <a:solidFill>
                  <a:srgbClr val="F9FAFB"/>
                </a:solidFill>
                <a:effectLst/>
                <a:latin typeface="quote-cjk-patch"/>
              </a:rPr>
              <a:t>АКТУАЛЬНОСТЬ И ЦЕЛЬ ПРОЕКТА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9E17436E-774F-D9A4-C697-4D2FC1106498}"/>
              </a:ext>
            </a:extLst>
          </p:cNvPr>
          <p:cNvSpPr txBox="1"/>
          <p:nvPr/>
        </p:nvSpPr>
        <p:spPr>
          <a:xfrm>
            <a:off x="6756687" y="1438434"/>
            <a:ext cx="531523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0F1115"/>
                </a:solidFill>
                <a:latin typeface="quote-cjk-patch"/>
              </a:rPr>
              <a:t>Задачи:</a:t>
            </a:r>
            <a:endParaRPr lang="ru-RU" dirty="0">
              <a:solidFill>
                <a:srgbClr val="0F1115"/>
              </a:solidFill>
              <a:latin typeface="quote-cjk-patch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F1115"/>
                </a:solidFill>
                <a:latin typeface="quote-cjk-patch"/>
              </a:rPr>
              <a:t>Разработать систему учёта калорий и </a:t>
            </a:r>
            <a:r>
              <a:rPr lang="ru-RU" dirty="0" err="1">
                <a:solidFill>
                  <a:srgbClr val="0F1115"/>
                </a:solidFill>
                <a:latin typeface="quote-cjk-patch"/>
              </a:rPr>
              <a:t>макронутриентов</a:t>
            </a:r>
            <a:r>
              <a:rPr lang="ru-RU" dirty="0">
                <a:solidFill>
                  <a:srgbClr val="0F1115"/>
                </a:solidFill>
                <a:latin typeface="quote-cjk-patch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F1115"/>
                </a:solidFill>
                <a:latin typeface="quote-cjk-patch"/>
              </a:rPr>
              <a:t>Реализовать график изменения веса.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F1115"/>
                </a:solidFill>
                <a:latin typeface="quote-cjk-patch"/>
              </a:rPr>
              <a:t>Создать персонализированный расчёт рекомендуемых калорий.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F1115"/>
                </a:solidFill>
                <a:latin typeface="quote-cjk-patch"/>
              </a:rPr>
              <a:t>Обеспечить возможность добавления своих продуктов.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F1115"/>
                </a:solidFill>
                <a:latin typeface="quote-cjk-patch"/>
              </a:rPr>
              <a:t>Реализовать систему авторизации и хранения данных.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EE32D16A-B417-904A-8614-B613D25AA730}"/>
              </a:ext>
            </a:extLst>
          </p:cNvPr>
          <p:cNvSpPr txBox="1"/>
          <p:nvPr/>
        </p:nvSpPr>
        <p:spPr>
          <a:xfrm>
            <a:off x="204065" y="1253661"/>
            <a:ext cx="655262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 smtClean="0">
                <a:solidFill>
                  <a:srgbClr val="0F1115"/>
                </a:solidFill>
                <a:latin typeface="quote-cjk-patch"/>
              </a:rPr>
              <a:t>Цель проекта:</a:t>
            </a:r>
            <a:r>
              <a:rPr lang="ru-RU" dirty="0" smtClean="0">
                <a:latin typeface="quote-cjk-patch"/>
              </a:rPr>
              <a:t/>
            </a:r>
            <a:br>
              <a:rPr lang="ru-RU" dirty="0" smtClean="0">
                <a:latin typeface="quote-cjk-patch"/>
              </a:rPr>
            </a:br>
            <a:r>
              <a:rPr lang="ru-RU" dirty="0" smtClean="0">
                <a:solidFill>
                  <a:srgbClr val="0F1115"/>
                </a:solidFill>
                <a:latin typeface="quote-cjk-patch"/>
              </a:rPr>
              <a:t>Создать простое и удобное мобильное приложение для отслеживания калорий, веса и прогресса в достижении целей.</a:t>
            </a:r>
            <a:r>
              <a:rPr lang="ru-RU" b="0" i="0" dirty="0" smtClean="0">
                <a:effectLst/>
                <a:latin typeface="quote-cjk-patch"/>
              </a:rPr>
              <a:t/>
            </a:r>
            <a:br>
              <a:rPr lang="ru-RU" b="0" i="0" dirty="0" smtClean="0">
                <a:effectLst/>
                <a:latin typeface="quote-cjk-patch"/>
              </a:rPr>
            </a:br>
            <a:r>
              <a:rPr lang="ru-RU" b="1" dirty="0" smtClean="0">
                <a:latin typeface="quote-cjk-patch"/>
              </a:rPr>
              <a:t>Почему это важно?</a:t>
            </a:r>
            <a:endParaRPr lang="ru-RU" dirty="0" smtClean="0">
              <a:latin typeface="quote-cjk-patch"/>
            </a:endParaRPr>
          </a:p>
          <a:p>
            <a:r>
              <a:rPr lang="ru-RU" dirty="0" smtClean="0">
                <a:latin typeface="quote-cjk-patch"/>
              </a:rPr>
              <a:t>Здоровый образ жизни и контроль питания становятся всё популярнее.</a:t>
            </a:r>
          </a:p>
          <a:p>
            <a:r>
              <a:rPr lang="ru-RU" dirty="0" smtClean="0">
                <a:latin typeface="quote-cjk-patch"/>
              </a:rPr>
              <a:t>Многие люди хотят следить за калориями и весом, но не имеют удобного инструмента.</a:t>
            </a:r>
          </a:p>
          <a:p>
            <a:r>
              <a:rPr lang="ru-RU" dirty="0" smtClean="0">
                <a:latin typeface="quote-cjk-patch"/>
              </a:rPr>
              <a:t>Существующие приложения часто перегружены функциями или требуют подписки.</a:t>
            </a:r>
          </a:p>
          <a:p>
            <a:pPr algn="l">
              <a:buNone/>
            </a:pPr>
            <a:endParaRPr lang="ru-RU" b="0" i="0" dirty="0">
              <a:effectLst/>
              <a:latin typeface="quote-cjk-patch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GroupShape 88">
          <a:extLst>
            <a:ext uri="{FF2B5EF4-FFF2-40B4-BE49-F238E27FC236}">
              <a16:creationId xmlns="" xmlns:a16="http://schemas.microsoft.com/office/drawing/2014/main" id="{401A7BFA-1136-1AC5-85D4-5F49D1F08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0D85BC62-5926-D279-5419-12016FCDF175}"/>
              </a:ext>
            </a:extLst>
          </p:cNvPr>
          <p:cNvSpPr txBox="1"/>
          <p:nvPr/>
        </p:nvSpPr>
        <p:spPr>
          <a:xfrm>
            <a:off x="5857875" y="393748"/>
            <a:ext cx="5300663" cy="445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</a:pPr>
            <a:r>
              <a:rPr lang="ru-RU" sz="3600" b="1" dirty="0">
                <a:solidFill>
                  <a:srgbClr val="F9FAFB"/>
                </a:solidFill>
                <a:effectLst/>
                <a:latin typeface="quote-cjk-patch"/>
              </a:rPr>
              <a:t>ТЕХНОЛОГИЧЕСКИЙ СТЕК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6D8507B2-6367-59DB-6FEC-0E99E432498B}"/>
              </a:ext>
            </a:extLst>
          </p:cNvPr>
          <p:cNvSpPr txBox="1"/>
          <p:nvPr/>
        </p:nvSpPr>
        <p:spPr>
          <a:xfrm>
            <a:off x="4199079" y="1207669"/>
            <a:ext cx="784513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0F1115"/>
                </a:solidFill>
                <a:latin typeface="quote-cjk-patch"/>
              </a:rPr>
              <a:t>Основные технологии:</a:t>
            </a:r>
            <a:endParaRPr lang="ru-RU" dirty="0">
              <a:solidFill>
                <a:srgbClr val="0F1115"/>
              </a:solidFill>
              <a:latin typeface="quote-cjk-patch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0F1115"/>
                </a:solidFill>
                <a:latin typeface="quote-cjk-patch"/>
              </a:rPr>
              <a:t>Язык программирования:</a:t>
            </a:r>
            <a:r>
              <a:rPr lang="ru-RU" dirty="0">
                <a:solidFill>
                  <a:srgbClr val="0F1115"/>
                </a:solidFill>
                <a:latin typeface="quote-cjk-patch"/>
              </a:rPr>
              <a:t> </a:t>
            </a:r>
            <a:r>
              <a:rPr lang="ru-RU" dirty="0" err="1">
                <a:solidFill>
                  <a:srgbClr val="0F1115"/>
                </a:solidFill>
                <a:latin typeface="quote-cjk-patch"/>
              </a:rPr>
              <a:t>Kotlin</a:t>
            </a:r>
            <a:r>
              <a:rPr lang="ru-RU" dirty="0">
                <a:solidFill>
                  <a:srgbClr val="0F1115"/>
                </a:solidFill>
                <a:latin typeface="quote-cjk-patch"/>
              </a:rPr>
              <a:t> – современный, безопасный, официальный для </a:t>
            </a:r>
            <a:r>
              <a:rPr lang="ru-RU" dirty="0" err="1">
                <a:solidFill>
                  <a:srgbClr val="0F1115"/>
                </a:solidFill>
                <a:latin typeface="quote-cjk-patch"/>
              </a:rPr>
              <a:t>Android</a:t>
            </a:r>
            <a:r>
              <a:rPr lang="ru-RU" dirty="0">
                <a:solidFill>
                  <a:srgbClr val="0F1115"/>
                </a:solidFill>
                <a:latin typeface="quote-cjk-patch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0F1115"/>
                </a:solidFill>
                <a:latin typeface="quote-cjk-patch"/>
              </a:rPr>
              <a:t>Минимальная версия:</a:t>
            </a:r>
            <a:r>
              <a:rPr lang="ru-RU" dirty="0">
                <a:solidFill>
                  <a:srgbClr val="0F1115"/>
                </a:solidFill>
                <a:latin typeface="quote-cjk-patch"/>
              </a:rPr>
              <a:t> </a:t>
            </a:r>
            <a:r>
              <a:rPr lang="ru-RU" dirty="0" err="1">
                <a:solidFill>
                  <a:srgbClr val="0F1115"/>
                </a:solidFill>
                <a:latin typeface="quote-cjk-patch"/>
              </a:rPr>
              <a:t>Android</a:t>
            </a:r>
            <a:r>
              <a:rPr lang="ru-RU" dirty="0">
                <a:solidFill>
                  <a:srgbClr val="0F1115"/>
                </a:solidFill>
                <a:latin typeface="quote-cjk-patch"/>
              </a:rPr>
              <a:t> 7.0 – охватывает большинство устройств.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0F1115"/>
                </a:solidFill>
                <a:latin typeface="quote-cjk-patch"/>
              </a:rPr>
              <a:t>База данных:</a:t>
            </a:r>
            <a:r>
              <a:rPr lang="ru-RU" dirty="0">
                <a:solidFill>
                  <a:srgbClr val="0F1115"/>
                </a:solidFill>
                <a:latin typeface="quote-cjk-patch"/>
              </a:rPr>
              <a:t> </a:t>
            </a:r>
            <a:r>
              <a:rPr lang="ru-RU" dirty="0" err="1">
                <a:solidFill>
                  <a:srgbClr val="0F1115"/>
                </a:solidFill>
                <a:latin typeface="quote-cjk-patch"/>
              </a:rPr>
              <a:t>SQLite</a:t>
            </a:r>
            <a:r>
              <a:rPr lang="ru-RU" dirty="0">
                <a:solidFill>
                  <a:srgbClr val="0F1115"/>
                </a:solidFill>
                <a:latin typeface="quote-cjk-patch"/>
              </a:rPr>
              <a:t> – лёгкая, встроенная, работает офлайн.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0F1115"/>
                </a:solidFill>
                <a:latin typeface="quote-cjk-patch"/>
              </a:rPr>
              <a:t>Архитектура:</a:t>
            </a:r>
            <a:r>
              <a:rPr lang="ru-RU" dirty="0">
                <a:solidFill>
                  <a:srgbClr val="0F1115"/>
                </a:solidFill>
                <a:latin typeface="quote-cjk-patch"/>
              </a:rPr>
              <a:t> MVVM (</a:t>
            </a:r>
            <a:r>
              <a:rPr lang="ru-RU" dirty="0" err="1">
                <a:solidFill>
                  <a:srgbClr val="0F1115"/>
                </a:solidFill>
                <a:latin typeface="quote-cjk-patch"/>
              </a:rPr>
              <a:t>Model-View-ViewModel</a:t>
            </a:r>
            <a:r>
              <a:rPr lang="ru-RU" dirty="0">
                <a:solidFill>
                  <a:srgbClr val="0F1115"/>
                </a:solidFill>
                <a:latin typeface="quote-cjk-patch"/>
              </a:rPr>
              <a:t>) – разделение логики и интерфейса.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0F1115"/>
                </a:solidFill>
                <a:latin typeface="quote-cjk-patch"/>
              </a:rPr>
              <a:t>UI:</a:t>
            </a:r>
            <a:r>
              <a:rPr lang="ru-RU" dirty="0">
                <a:solidFill>
                  <a:srgbClr val="0F1115"/>
                </a:solidFill>
                <a:latin typeface="quote-cjk-patch"/>
              </a:rPr>
              <a:t> </a:t>
            </a:r>
            <a:r>
              <a:rPr lang="ru-RU" dirty="0" err="1">
                <a:solidFill>
                  <a:srgbClr val="0F1115"/>
                </a:solidFill>
                <a:latin typeface="quote-cjk-patch"/>
              </a:rPr>
              <a:t>Jetpack</a:t>
            </a:r>
            <a:r>
              <a:rPr lang="ru-RU" dirty="0">
                <a:solidFill>
                  <a:srgbClr val="0F1115"/>
                </a:solidFill>
                <a:latin typeface="quote-cjk-patch"/>
              </a:rPr>
              <a:t> </a:t>
            </a:r>
            <a:r>
              <a:rPr lang="ru-RU" dirty="0" err="1">
                <a:solidFill>
                  <a:srgbClr val="0F1115"/>
                </a:solidFill>
                <a:latin typeface="quote-cjk-patch"/>
              </a:rPr>
              <a:t>Compose</a:t>
            </a:r>
            <a:r>
              <a:rPr lang="ru-RU" dirty="0">
                <a:solidFill>
                  <a:srgbClr val="0F1115"/>
                </a:solidFill>
                <a:latin typeface="quote-cjk-patch"/>
              </a:rPr>
              <a:t> – современный декларативный подход.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AAA6D7B2-DCFE-6A8E-F06E-6600CA2CF6C3}"/>
              </a:ext>
            </a:extLst>
          </p:cNvPr>
          <p:cNvSpPr txBox="1"/>
          <p:nvPr/>
        </p:nvSpPr>
        <p:spPr>
          <a:xfrm>
            <a:off x="5224318" y="4648903"/>
            <a:ext cx="757728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0F1115"/>
                </a:solidFill>
                <a:latin typeface="quote-cjk-patch"/>
              </a:rPr>
              <a:t>Ключевые библиотеки:</a:t>
            </a:r>
            <a:endParaRPr lang="ru-RU" dirty="0">
              <a:solidFill>
                <a:srgbClr val="0F1115"/>
              </a:solidFill>
              <a:latin typeface="quote-cjk-patch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0F1115"/>
                </a:solidFill>
                <a:latin typeface="quote-cjk-patch"/>
              </a:rPr>
              <a:t>Kotlin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quote-cjk-patch"/>
              </a:rPr>
              <a:t>Coroutines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 – </a:t>
            </a:r>
            <a:r>
              <a:rPr lang="ru-RU" dirty="0">
                <a:solidFill>
                  <a:srgbClr val="0F1115"/>
                </a:solidFill>
                <a:latin typeface="quote-cjk-patch"/>
              </a:rPr>
              <a:t>для асинхронных операций.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F1115"/>
                </a:solidFill>
                <a:latin typeface="quote-cjk-patch"/>
              </a:rPr>
              <a:t>Jetpack Navigation – </a:t>
            </a:r>
            <a:r>
              <a:rPr lang="ru-RU" dirty="0">
                <a:solidFill>
                  <a:srgbClr val="0F1115"/>
                </a:solidFill>
                <a:latin typeface="quote-cjk-patch"/>
              </a:rPr>
              <a:t>для навигации между экранами.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F1115"/>
                </a:solidFill>
                <a:latin typeface="quote-cjk-patch"/>
              </a:rPr>
              <a:t>Material Design 3 – </a:t>
            </a:r>
            <a:r>
              <a:rPr lang="ru-RU" dirty="0">
                <a:solidFill>
                  <a:srgbClr val="0F1115"/>
                </a:solidFill>
                <a:latin typeface="quote-cjk-patch"/>
              </a:rPr>
              <a:t>для современного интерфейса.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pic>
        <p:nvPicPr>
          <p:cNvPr id="1026" name="Picture 2" descr="159+ Thousand Person On Phone White Background Royalty-Free Images, Stock  Photos &amp; Pictures | Shutterstock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53" t="15108" r="32156" b="7962"/>
          <a:stretch/>
        </p:blipFill>
        <p:spPr bwMode="auto">
          <a:xfrm>
            <a:off x="557066" y="1755456"/>
            <a:ext cx="3556000" cy="5102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0208109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GroupShape 88">
          <a:extLst>
            <a:ext uri="{FF2B5EF4-FFF2-40B4-BE49-F238E27FC236}">
              <a16:creationId xmlns="" xmlns:a16="http://schemas.microsoft.com/office/drawing/2014/main" id="{03C6DB8C-25C2-55FA-C887-B5BF6AB4A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CC02F6B9-B739-AF9B-42CA-917E64EBC42D}"/>
              </a:ext>
            </a:extLst>
          </p:cNvPr>
          <p:cNvSpPr txBox="1"/>
          <p:nvPr/>
        </p:nvSpPr>
        <p:spPr>
          <a:xfrm>
            <a:off x="5867399" y="355648"/>
            <a:ext cx="5643563" cy="445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</a:pPr>
            <a:r>
              <a:rPr lang="ru-RU" sz="3600" b="1" dirty="0">
                <a:solidFill>
                  <a:srgbClr val="F9FAFB"/>
                </a:solidFill>
                <a:effectLst/>
                <a:latin typeface="quote-cjk-patch"/>
              </a:rPr>
              <a:t>СТРУКТУРА БАЗЫ ДАННЫХ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B59F806E-F90E-B547-CD9C-30872FFAAC01}"/>
              </a:ext>
            </a:extLst>
          </p:cNvPr>
          <p:cNvSpPr txBox="1"/>
          <p:nvPr/>
        </p:nvSpPr>
        <p:spPr>
          <a:xfrm>
            <a:off x="491836" y="1654882"/>
            <a:ext cx="6096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0F1115"/>
                </a:solidFill>
                <a:latin typeface="quote-cjk-patch"/>
              </a:rPr>
              <a:t>1. MEALS – таблица приёмов пищи</a:t>
            </a:r>
            <a:endParaRPr lang="ru-RU" dirty="0">
              <a:solidFill>
                <a:srgbClr val="0F1115"/>
              </a:solidFill>
              <a:latin typeface="quote-cjk-patch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F1115"/>
                </a:solidFill>
                <a:latin typeface="quote-cjk-patch"/>
              </a:rPr>
              <a:t>Хранение данных о продуктах: калории, белки, углеводы, жиры.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F1115"/>
                </a:solidFill>
                <a:latin typeface="quote-cjk-patch"/>
              </a:rPr>
              <a:t>Привязка к пользователю и дате.</a:t>
            </a:r>
          </a:p>
          <a:p>
            <a:r>
              <a:rPr lang="ru-RU" b="1" dirty="0">
                <a:solidFill>
                  <a:srgbClr val="0F1115"/>
                </a:solidFill>
                <a:latin typeface="quote-cjk-patch"/>
              </a:rPr>
              <a:t>2. USERPROFILE – профиль пользователя</a:t>
            </a:r>
            <a:endParaRPr lang="ru-RU" dirty="0">
              <a:solidFill>
                <a:srgbClr val="0F1115"/>
              </a:solidFill>
              <a:latin typeface="quote-cjk-patch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F1115"/>
                </a:solidFill>
                <a:latin typeface="quote-cjk-patch"/>
              </a:rPr>
              <a:t>Основные данные: имя, возраст, вес, рост, пол.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F1115"/>
                </a:solidFill>
                <a:latin typeface="quote-cjk-patch"/>
              </a:rPr>
              <a:t>Рекомендуемые калории.</a:t>
            </a:r>
          </a:p>
          <a:p>
            <a:r>
              <a:rPr lang="ru-RU" b="1" dirty="0">
                <a:solidFill>
                  <a:srgbClr val="0F1115"/>
                </a:solidFill>
                <a:latin typeface="quote-cjk-patch"/>
              </a:rPr>
              <a:t>3. STOREDAPPINFORMATION – настройки приложения</a:t>
            </a:r>
            <a:endParaRPr lang="ru-RU" dirty="0">
              <a:solidFill>
                <a:srgbClr val="0F1115"/>
              </a:solidFill>
              <a:latin typeface="quote-cjk-patch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F1115"/>
                </a:solidFill>
                <a:latin typeface="quote-cjk-patch"/>
              </a:rPr>
              <a:t>Целевой вес пользователя.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F1115"/>
                </a:solidFill>
                <a:latin typeface="quote-cjk-patch"/>
              </a:rPr>
              <a:t>Выбранная цветовая тема.</a:t>
            </a:r>
          </a:p>
          <a:p>
            <a:r>
              <a:rPr lang="ru-RU" b="1" dirty="0">
                <a:solidFill>
                  <a:srgbClr val="0F1115"/>
                </a:solidFill>
                <a:latin typeface="quote-cjk-patch"/>
              </a:rPr>
              <a:t>4. PASTDATES – история веса</a:t>
            </a:r>
            <a:endParaRPr lang="ru-RU" dirty="0">
              <a:solidFill>
                <a:srgbClr val="0F1115"/>
              </a:solidFill>
              <a:latin typeface="quote-cjk-patch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F1115"/>
                </a:solidFill>
                <a:latin typeface="quote-cjk-patch"/>
              </a:rPr>
              <a:t>Записи веса по датам.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F1115"/>
                </a:solidFill>
                <a:latin typeface="quote-cjk-patch"/>
              </a:rPr>
              <a:t>Отслеживание прогресса.</a:t>
            </a:r>
          </a:p>
          <a:p>
            <a:r>
              <a:rPr lang="ru-RU" b="1" dirty="0">
                <a:solidFill>
                  <a:srgbClr val="0F1115"/>
                </a:solidFill>
                <a:latin typeface="quote-cjk-patch"/>
              </a:rPr>
              <a:t>Все таблицы связаны по </a:t>
            </a:r>
            <a:r>
              <a:rPr lang="ru-RU" b="1" dirty="0" err="1">
                <a:solidFill>
                  <a:srgbClr val="0F1115"/>
                </a:solidFill>
                <a:latin typeface="quote-cjk-patch"/>
              </a:rPr>
              <a:t>userEmail</a:t>
            </a:r>
            <a:r>
              <a:rPr lang="ru-RU" b="1" dirty="0">
                <a:solidFill>
                  <a:srgbClr val="0F1115"/>
                </a:solidFill>
                <a:latin typeface="quote-cjk-patch"/>
              </a:rPr>
              <a:t>, обеспечена целостность данных.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pic>
        <p:nvPicPr>
          <p:cNvPr id="2050" name="Picture 2" descr="White man using phone Images - Free Download on Freepik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51" t="4401" r="6811"/>
          <a:stretch/>
        </p:blipFill>
        <p:spPr bwMode="auto">
          <a:xfrm>
            <a:off x="6493164" y="2032001"/>
            <a:ext cx="5261493" cy="4526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2133033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GroupShape 88">
          <a:extLst>
            <a:ext uri="{FF2B5EF4-FFF2-40B4-BE49-F238E27FC236}">
              <a16:creationId xmlns="" xmlns:a16="http://schemas.microsoft.com/office/drawing/2014/main" id="{87435FC4-87F7-930B-406D-31866BD08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F8079F43-CBBA-D496-6472-141F0689E8D3}"/>
              </a:ext>
            </a:extLst>
          </p:cNvPr>
          <p:cNvSpPr txBox="1"/>
          <p:nvPr/>
        </p:nvSpPr>
        <p:spPr>
          <a:xfrm>
            <a:off x="5867399" y="355648"/>
            <a:ext cx="5643563" cy="445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</a:pPr>
            <a:r>
              <a:rPr lang="ru-RU" sz="3600" b="1" dirty="0">
                <a:solidFill>
                  <a:srgbClr val="F9FAFB"/>
                </a:solidFill>
                <a:effectLst/>
                <a:latin typeface="quote-cjk-patch"/>
              </a:rPr>
              <a:t>СТРУКТУРА БАЗЫ ДАННЫХ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1389" y="1199641"/>
            <a:ext cx="4803920" cy="5522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011899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GroupShape 88">
          <a:extLst>
            <a:ext uri="{FF2B5EF4-FFF2-40B4-BE49-F238E27FC236}">
              <a16:creationId xmlns="" xmlns:a16="http://schemas.microsoft.com/office/drawing/2014/main" id="{ACBDB490-5773-97C5-C934-26D1FAFBF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0A827761-9BF6-EA60-503B-E85DAE37CBDA}"/>
              </a:ext>
            </a:extLst>
          </p:cNvPr>
          <p:cNvSpPr txBox="1"/>
          <p:nvPr/>
        </p:nvSpPr>
        <p:spPr>
          <a:xfrm>
            <a:off x="5434014" y="346123"/>
            <a:ext cx="6286500" cy="445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</a:pPr>
            <a:r>
              <a:rPr lang="ru-RU" sz="3600" b="1" dirty="0">
                <a:solidFill>
                  <a:srgbClr val="F9FAFB"/>
                </a:solidFill>
                <a:effectLst/>
                <a:latin typeface="quote-cjk-patch"/>
              </a:rPr>
              <a:t>ИНТЕРФЕЙС И ФУНКЦИОНАЛ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794B5FC5-33F9-7752-4A84-039B3096888A}"/>
              </a:ext>
            </a:extLst>
          </p:cNvPr>
          <p:cNvSpPr txBox="1"/>
          <p:nvPr/>
        </p:nvSpPr>
        <p:spPr>
          <a:xfrm>
            <a:off x="523875" y="1386959"/>
            <a:ext cx="17192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>
                <a:effectLst/>
                <a:latin typeface="quote-cjk-patch"/>
              </a:rPr>
              <a:t>Вход в систему</a:t>
            </a:r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0480795F-F7FE-35EC-5470-13EE7BC61409}"/>
              </a:ext>
            </a:extLst>
          </p:cNvPr>
          <p:cNvSpPr txBox="1"/>
          <p:nvPr/>
        </p:nvSpPr>
        <p:spPr>
          <a:xfrm>
            <a:off x="3767137" y="1386959"/>
            <a:ext cx="14287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>
                <a:effectLst/>
                <a:latin typeface="quote-cjk-patch"/>
              </a:rPr>
              <a:t>Регистрация</a:t>
            </a:r>
            <a:endParaRPr lang="ru-RU" dirty="0"/>
          </a:p>
        </p:txBody>
      </p: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FFC681DC-4771-ABFD-8BE9-7E0BB027EB01}"/>
              </a:ext>
            </a:extLst>
          </p:cNvPr>
          <p:cNvSpPr txBox="1"/>
          <p:nvPr/>
        </p:nvSpPr>
        <p:spPr>
          <a:xfrm>
            <a:off x="9447933" y="1379227"/>
            <a:ext cx="26812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 smtClean="0">
                <a:effectLst/>
                <a:latin typeface="quote-cjk-patch"/>
              </a:rPr>
              <a:t>Выбор добавления блюда</a:t>
            </a:r>
            <a:endParaRPr lang="ru-RU" dirty="0"/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A8B7CBB4-5F3F-28F2-84FF-D804E38AD158}"/>
              </a:ext>
            </a:extLst>
          </p:cNvPr>
          <p:cNvSpPr txBox="1"/>
          <p:nvPr/>
        </p:nvSpPr>
        <p:spPr>
          <a:xfrm>
            <a:off x="6495183" y="1379227"/>
            <a:ext cx="23288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>
                <a:effectLst/>
                <a:latin typeface="quote-cjk-patch"/>
              </a:rPr>
              <a:t>Панель пользователя</a:t>
            </a:r>
            <a:endParaRPr lang="ru-RU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130" y="2102311"/>
            <a:ext cx="2314683" cy="4755689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4170" y="2102311"/>
            <a:ext cx="2314683" cy="4755689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2581" y="2102311"/>
            <a:ext cx="2314683" cy="4755689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7933" y="2102310"/>
            <a:ext cx="2308795" cy="4743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431505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GroupShape 88">
          <a:extLst>
            <a:ext uri="{FF2B5EF4-FFF2-40B4-BE49-F238E27FC236}">
              <a16:creationId xmlns="" xmlns:a16="http://schemas.microsoft.com/office/drawing/2014/main" id="{5C2A7670-22F7-8B7B-D96C-7A91C5443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2EFA8BF0-B3D6-D0AA-4178-18853CB206C1}"/>
              </a:ext>
            </a:extLst>
          </p:cNvPr>
          <p:cNvSpPr txBox="1"/>
          <p:nvPr/>
        </p:nvSpPr>
        <p:spPr>
          <a:xfrm>
            <a:off x="448515" y="1394617"/>
            <a:ext cx="19383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 smtClean="0">
                <a:effectLst/>
                <a:latin typeface="quote-cjk-patch"/>
              </a:rPr>
              <a:t>Ручной ввод блюда</a:t>
            </a:r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9DC00A2D-F60B-9BC3-C43B-21BA0008F91A}"/>
              </a:ext>
            </a:extLst>
          </p:cNvPr>
          <p:cNvSpPr txBox="1"/>
          <p:nvPr/>
        </p:nvSpPr>
        <p:spPr>
          <a:xfrm>
            <a:off x="3603133" y="1389851"/>
            <a:ext cx="19383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>
                <a:effectLst/>
                <a:latin typeface="quote-cjk-patch"/>
              </a:rPr>
              <a:t>Просмотр </a:t>
            </a:r>
            <a:r>
              <a:rPr lang="ru-RU" b="1" dirty="0" smtClean="0">
                <a:latin typeface="quote-cjk-patch"/>
              </a:rPr>
              <a:t>блюд из меню</a:t>
            </a:r>
            <a:endParaRPr lang="ru-RU" dirty="0"/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8E2A4AC9-AB87-8D73-A113-449594409F67}"/>
              </a:ext>
            </a:extLst>
          </p:cNvPr>
          <p:cNvSpPr txBox="1"/>
          <p:nvPr/>
        </p:nvSpPr>
        <p:spPr>
          <a:xfrm>
            <a:off x="6757752" y="1417634"/>
            <a:ext cx="22938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 smtClean="0">
                <a:latin typeface="quote-cjk-patch"/>
              </a:rPr>
              <a:t>Кнопка изменения темы</a:t>
            </a:r>
            <a:endParaRPr lang="ru-RU" dirty="0"/>
          </a:p>
        </p:txBody>
      </p: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D15FC50C-B23C-9087-DDB6-F08D23C420FE}"/>
              </a:ext>
            </a:extLst>
          </p:cNvPr>
          <p:cNvSpPr txBox="1"/>
          <p:nvPr/>
        </p:nvSpPr>
        <p:spPr>
          <a:xfrm>
            <a:off x="9487957" y="1397788"/>
            <a:ext cx="24922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 smtClean="0">
                <a:latin typeface="quote-cjk-patch"/>
              </a:rPr>
              <a:t>Указание веса в день</a:t>
            </a:r>
            <a:endParaRPr lang="ru-RU" dirty="0"/>
          </a:p>
        </p:txBody>
      </p:sp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B3ED9953-3316-7940-620F-F8E4D6CF2D3D}"/>
              </a:ext>
            </a:extLst>
          </p:cNvPr>
          <p:cNvSpPr txBox="1"/>
          <p:nvPr/>
        </p:nvSpPr>
        <p:spPr>
          <a:xfrm>
            <a:off x="5434014" y="346123"/>
            <a:ext cx="6286500" cy="445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</a:pPr>
            <a:r>
              <a:rPr lang="ru-RU" sz="3600" b="1" dirty="0">
                <a:solidFill>
                  <a:srgbClr val="F9FAFB"/>
                </a:solidFill>
                <a:effectLst/>
                <a:latin typeface="quote-cjk-patch"/>
              </a:rPr>
              <a:t>ИНТЕРФЕЙС И ФУНКЦИОНАЛ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569" y="2059709"/>
            <a:ext cx="2335418" cy="4798291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5005" y="2059709"/>
            <a:ext cx="2335418" cy="4798291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7751" y="2036182"/>
            <a:ext cx="2215461" cy="4798291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8978" y="2059709"/>
            <a:ext cx="2215461" cy="4798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558143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GroupShape 88">
          <a:extLst>
            <a:ext uri="{FF2B5EF4-FFF2-40B4-BE49-F238E27FC236}">
              <a16:creationId xmlns="" xmlns:a16="http://schemas.microsoft.com/office/drawing/2014/main" id="{D9DF845A-668A-D285-72A8-4C309936B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8665A1AB-651C-DE68-7798-7C09C6B60CA1}"/>
              </a:ext>
            </a:extLst>
          </p:cNvPr>
          <p:cNvSpPr txBox="1"/>
          <p:nvPr/>
        </p:nvSpPr>
        <p:spPr>
          <a:xfrm>
            <a:off x="5434014" y="346123"/>
            <a:ext cx="6286500" cy="445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</a:pPr>
            <a:r>
              <a:rPr lang="ru-RU" sz="3600" b="1" dirty="0">
                <a:solidFill>
                  <a:srgbClr val="F9FAFB"/>
                </a:solidFill>
                <a:effectLst/>
                <a:latin typeface="quote-cjk-patch"/>
              </a:rPr>
              <a:t>ИНТЕРФЕЙС И ФУНКЦИОНАЛ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010772A2-5E01-BFB4-55C0-9A0FC2BF6A45}"/>
              </a:ext>
            </a:extLst>
          </p:cNvPr>
          <p:cNvSpPr txBox="1"/>
          <p:nvPr/>
        </p:nvSpPr>
        <p:spPr>
          <a:xfrm>
            <a:off x="9817645" y="1342230"/>
            <a:ext cx="19383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 smtClean="0">
                <a:effectLst/>
                <a:latin typeface="quote-cjk-patch"/>
              </a:rPr>
              <a:t>Сохранение графика</a:t>
            </a:r>
            <a:endParaRPr lang="ru-RU" dirty="0"/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D8EB6518-BBFE-0F00-0D76-3F55A0F1E34B}"/>
              </a:ext>
            </a:extLst>
          </p:cNvPr>
          <p:cNvSpPr txBox="1"/>
          <p:nvPr/>
        </p:nvSpPr>
        <p:spPr>
          <a:xfrm>
            <a:off x="648424" y="1342230"/>
            <a:ext cx="19383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 smtClean="0">
                <a:latin typeface="quote-cjk-patch"/>
              </a:rPr>
              <a:t>Профиль пользователя</a:t>
            </a:r>
            <a:endParaRPr lang="ru-RU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657" y="2115126"/>
            <a:ext cx="2189873" cy="4742873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7571" y="2115126"/>
            <a:ext cx="2189874" cy="4742874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1193" y="2115124"/>
            <a:ext cx="2189874" cy="4742874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6108" y="2115124"/>
            <a:ext cx="2189874" cy="474287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D8EB6518-BBFE-0F00-0D76-3F55A0F1E34B}"/>
              </a:ext>
            </a:extLst>
          </p:cNvPr>
          <p:cNvSpPr txBox="1"/>
          <p:nvPr/>
        </p:nvSpPr>
        <p:spPr>
          <a:xfrm>
            <a:off x="3495677" y="1342229"/>
            <a:ext cx="19383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 smtClean="0">
                <a:latin typeface="quote-cjk-patch"/>
              </a:rPr>
              <a:t>Калькулятор </a:t>
            </a:r>
            <a:r>
              <a:rPr lang="ru-RU" b="1" dirty="0" err="1" smtClean="0">
                <a:latin typeface="quote-cjk-patch"/>
              </a:rPr>
              <a:t>рекоменд</a:t>
            </a:r>
            <a:r>
              <a:rPr lang="ru-RU" b="1" dirty="0" smtClean="0">
                <a:latin typeface="quote-cjk-patch"/>
              </a:rPr>
              <a:t>. веса</a:t>
            </a:r>
            <a:endParaRPr lang="ru-RU" dirty="0"/>
          </a:p>
        </p:txBody>
      </p: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010772A2-5E01-BFB4-55C0-9A0FC2BF6A45}"/>
              </a:ext>
            </a:extLst>
          </p:cNvPr>
          <p:cNvSpPr txBox="1"/>
          <p:nvPr/>
        </p:nvSpPr>
        <p:spPr>
          <a:xfrm>
            <a:off x="6539734" y="1342228"/>
            <a:ext cx="23327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 smtClean="0">
                <a:effectLst/>
                <a:latin typeface="quote-cjk-patch"/>
              </a:rPr>
              <a:t>Просмотр графика изменения веса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11503505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GroupShape 88">
          <a:extLst>
            <a:ext uri="{FF2B5EF4-FFF2-40B4-BE49-F238E27FC236}">
              <a16:creationId xmlns="" xmlns:a16="http://schemas.microsoft.com/office/drawing/2014/main" id="{B73DD6EC-29D7-A3D4-2A92-BF187061C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30DA2F7E-8535-D412-DAE0-D4AF4B4DEA22}"/>
              </a:ext>
            </a:extLst>
          </p:cNvPr>
          <p:cNvSpPr txBox="1"/>
          <p:nvPr/>
        </p:nvSpPr>
        <p:spPr>
          <a:xfrm>
            <a:off x="3238499" y="350886"/>
            <a:ext cx="8953501" cy="445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</a:pPr>
            <a:r>
              <a:rPr lang="ru-RU" sz="3600" b="1" dirty="0">
                <a:solidFill>
                  <a:srgbClr val="F9FAFB"/>
                </a:solidFill>
                <a:effectLst/>
                <a:latin typeface="quote-cjk-patch"/>
              </a:rPr>
              <a:t>ТЕХНИЧЕСКИЕ ОСОБЕННОСТИ РЕАЛИЗАЦИИ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8FA39C9F-35A1-A75D-9EB7-6A316792B5DC}"/>
              </a:ext>
            </a:extLst>
          </p:cNvPr>
          <p:cNvSpPr txBox="1"/>
          <p:nvPr/>
        </p:nvSpPr>
        <p:spPr>
          <a:xfrm>
            <a:off x="528059" y="1826087"/>
            <a:ext cx="6491577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 smtClean="0">
                <a:solidFill>
                  <a:srgbClr val="0F1115"/>
                </a:solidFill>
                <a:latin typeface="quote-cjk-patch"/>
              </a:rPr>
              <a:t>Технические </a:t>
            </a:r>
            <a:r>
              <a:rPr lang="ru-RU" b="1" dirty="0">
                <a:solidFill>
                  <a:srgbClr val="0F1115"/>
                </a:solidFill>
                <a:latin typeface="quote-cjk-patch"/>
              </a:rPr>
              <a:t>особенности реализации</a:t>
            </a:r>
            <a:endParaRPr lang="ru-RU" dirty="0">
              <a:solidFill>
                <a:srgbClr val="0F1115"/>
              </a:solidFill>
              <a:latin typeface="quote-cjk-patch"/>
            </a:endParaRPr>
          </a:p>
          <a:p>
            <a:r>
              <a:rPr lang="ru-RU" b="1" dirty="0">
                <a:solidFill>
                  <a:srgbClr val="0F1115"/>
                </a:solidFill>
                <a:latin typeface="quote-cjk-patch"/>
              </a:rPr>
              <a:t>Безопасность:</a:t>
            </a:r>
            <a:endParaRPr lang="ru-RU" dirty="0">
              <a:solidFill>
                <a:srgbClr val="0F1115"/>
              </a:solidFill>
              <a:latin typeface="quote-cjk-patch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F1115"/>
                </a:solidFill>
                <a:latin typeface="quote-cjk-patch"/>
              </a:rPr>
              <a:t>Хеширование паролей с помощью SHA-256.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F1115"/>
                </a:solidFill>
                <a:latin typeface="quote-cjk-patch"/>
              </a:rPr>
              <a:t>Изоляция данных пользователей.</a:t>
            </a:r>
          </a:p>
          <a:p>
            <a:r>
              <a:rPr lang="ru-RU" b="1" dirty="0">
                <a:solidFill>
                  <a:srgbClr val="0F1115"/>
                </a:solidFill>
                <a:latin typeface="quote-cjk-patch"/>
              </a:rPr>
              <a:t>Асинхронность:</a:t>
            </a:r>
            <a:endParaRPr lang="ru-RU" dirty="0">
              <a:solidFill>
                <a:srgbClr val="0F1115"/>
              </a:solidFill>
              <a:latin typeface="quote-cjk-patch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F1115"/>
                </a:solidFill>
                <a:latin typeface="quote-cjk-patch"/>
              </a:rPr>
              <a:t>Использование </a:t>
            </a:r>
            <a:r>
              <a:rPr lang="ru-RU" dirty="0" err="1">
                <a:solidFill>
                  <a:srgbClr val="0F1115"/>
                </a:solidFill>
                <a:latin typeface="quote-cjk-patch"/>
              </a:rPr>
              <a:t>Kotlin</a:t>
            </a:r>
            <a:r>
              <a:rPr lang="ru-RU" dirty="0">
                <a:solidFill>
                  <a:srgbClr val="0F1115"/>
                </a:solidFill>
                <a:latin typeface="quote-cjk-patch"/>
              </a:rPr>
              <a:t> </a:t>
            </a:r>
            <a:r>
              <a:rPr lang="ru-RU" dirty="0" err="1">
                <a:solidFill>
                  <a:srgbClr val="0F1115"/>
                </a:solidFill>
                <a:latin typeface="quote-cjk-patch"/>
              </a:rPr>
              <a:t>Coroutines</a:t>
            </a:r>
            <a:r>
              <a:rPr lang="ru-RU" dirty="0">
                <a:solidFill>
                  <a:srgbClr val="0F1115"/>
                </a:solidFill>
                <a:latin typeface="quote-cjk-patch"/>
              </a:rPr>
              <a:t> для фоновых операций.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F1115"/>
                </a:solidFill>
                <a:latin typeface="quote-cjk-patch"/>
              </a:rPr>
              <a:t>Плавная работа интерфейса без блокировок.</a:t>
            </a:r>
          </a:p>
          <a:p>
            <a:r>
              <a:rPr lang="ru-RU" b="1" dirty="0">
                <a:solidFill>
                  <a:srgbClr val="0F1115"/>
                </a:solidFill>
                <a:latin typeface="quote-cjk-patch"/>
              </a:rPr>
              <a:t>Архитектура:</a:t>
            </a:r>
            <a:endParaRPr lang="ru-RU" dirty="0">
              <a:solidFill>
                <a:srgbClr val="0F1115"/>
              </a:solidFill>
              <a:latin typeface="quote-cjk-patch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F1115"/>
                </a:solidFill>
                <a:latin typeface="quote-cjk-patch"/>
              </a:rPr>
              <a:t>Чистая архитектура с разделением на слои.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F1115"/>
                </a:solidFill>
                <a:latin typeface="quote-cjk-patch"/>
              </a:rPr>
              <a:t>Использование </a:t>
            </a:r>
            <a:r>
              <a:rPr lang="ru-RU" dirty="0" err="1">
                <a:solidFill>
                  <a:srgbClr val="0F1115"/>
                </a:solidFill>
                <a:latin typeface="quote-cjk-patch"/>
              </a:rPr>
              <a:t>ViewModel</a:t>
            </a:r>
            <a:r>
              <a:rPr lang="ru-RU" dirty="0">
                <a:solidFill>
                  <a:srgbClr val="0F1115"/>
                </a:solidFill>
                <a:latin typeface="quote-cjk-patch"/>
              </a:rPr>
              <a:t> для управления состоянием экранов.</a:t>
            </a:r>
          </a:p>
          <a:p>
            <a:r>
              <a:rPr lang="ru-RU" b="1" dirty="0">
                <a:solidFill>
                  <a:srgbClr val="0F1115"/>
                </a:solidFill>
                <a:latin typeface="quote-cjk-patch"/>
              </a:rPr>
              <a:t>Навигация:</a:t>
            </a:r>
            <a:endParaRPr lang="ru-RU" dirty="0">
              <a:solidFill>
                <a:srgbClr val="0F1115"/>
              </a:solidFill>
              <a:latin typeface="quote-cjk-patch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dirty="0" err="1">
                <a:solidFill>
                  <a:srgbClr val="0F1115"/>
                </a:solidFill>
                <a:latin typeface="quote-cjk-patch"/>
              </a:rPr>
              <a:t>Jetpack</a:t>
            </a:r>
            <a:r>
              <a:rPr lang="ru-RU" dirty="0">
                <a:solidFill>
                  <a:srgbClr val="0F1115"/>
                </a:solidFill>
                <a:latin typeface="quote-cjk-patch"/>
              </a:rPr>
              <a:t> </a:t>
            </a:r>
            <a:r>
              <a:rPr lang="ru-RU" dirty="0" err="1">
                <a:solidFill>
                  <a:srgbClr val="0F1115"/>
                </a:solidFill>
                <a:latin typeface="quote-cjk-patch"/>
              </a:rPr>
              <a:t>Navigation</a:t>
            </a:r>
            <a:r>
              <a:rPr lang="ru-RU" dirty="0">
                <a:solidFill>
                  <a:srgbClr val="0F1115"/>
                </a:solidFill>
                <a:latin typeface="quote-cjk-patch"/>
              </a:rPr>
              <a:t> </a:t>
            </a:r>
            <a:r>
              <a:rPr lang="ru-RU" dirty="0" err="1">
                <a:solidFill>
                  <a:srgbClr val="0F1115"/>
                </a:solidFill>
                <a:latin typeface="quote-cjk-patch"/>
              </a:rPr>
              <a:t>Compose</a:t>
            </a:r>
            <a:r>
              <a:rPr lang="ru-RU" dirty="0">
                <a:solidFill>
                  <a:srgbClr val="0F1115"/>
                </a:solidFill>
                <a:latin typeface="quote-cjk-patch"/>
              </a:rPr>
              <a:t> для перехода между экранами.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F1115"/>
                </a:solidFill>
                <a:latin typeface="quote-cjk-patch"/>
              </a:rPr>
              <a:t>Передача параметров через маршруты.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pic>
        <p:nvPicPr>
          <p:cNvPr id="3074" name="Picture 2" descr="Small White People Phone Stock Illustrations – 828 Small White People Phone  Stock Illustrations, Vectors &amp; Clipart - Dreamstim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8264" y="1287563"/>
            <a:ext cx="3743956" cy="5505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0433112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GroupShape 88">
          <a:extLst>
            <a:ext uri="{FF2B5EF4-FFF2-40B4-BE49-F238E27FC236}">
              <a16:creationId xmlns="" xmlns:a16="http://schemas.microsoft.com/office/drawing/2014/main" id="{8D48F8A7-96B1-E867-A2F8-21631ED73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A5349160-5496-98A9-5860-6BCFCA2E7770}"/>
              </a:ext>
            </a:extLst>
          </p:cNvPr>
          <p:cNvSpPr txBox="1"/>
          <p:nvPr/>
        </p:nvSpPr>
        <p:spPr>
          <a:xfrm>
            <a:off x="4848226" y="350885"/>
            <a:ext cx="6972300" cy="445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</a:pPr>
            <a:r>
              <a:rPr lang="ru-RU" sz="3600" b="1" dirty="0">
                <a:solidFill>
                  <a:srgbClr val="F9FAFB"/>
                </a:solidFill>
                <a:effectLst/>
                <a:latin typeface="quote-cjk-patch"/>
              </a:rPr>
              <a:t>ТЕСТИРОВАНИЕ И ОПТИМИЗАЦИЯ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1C05F5E9-DE87-4D96-111C-9F022E567EAA}"/>
              </a:ext>
            </a:extLst>
          </p:cNvPr>
          <p:cNvSpPr txBox="1"/>
          <p:nvPr/>
        </p:nvSpPr>
        <p:spPr>
          <a:xfrm>
            <a:off x="6400078" y="1525595"/>
            <a:ext cx="4729739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 smtClean="0">
                <a:solidFill>
                  <a:srgbClr val="0F1115"/>
                </a:solidFill>
                <a:latin typeface="quote-cjk-patch"/>
              </a:rPr>
              <a:t>Тестирование</a:t>
            </a:r>
            <a:r>
              <a:rPr lang="ru-RU" b="1" dirty="0">
                <a:solidFill>
                  <a:srgbClr val="0F1115"/>
                </a:solidFill>
                <a:latin typeface="quote-cjk-patch"/>
              </a:rPr>
              <a:t>:</a:t>
            </a:r>
            <a:endParaRPr lang="ru-RU" dirty="0">
              <a:solidFill>
                <a:srgbClr val="0F1115"/>
              </a:solidFill>
              <a:latin typeface="quote-cjk-patch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0F1115"/>
                </a:solidFill>
                <a:latin typeface="quote-cjk-patch"/>
              </a:rPr>
              <a:t>Функциональное:</a:t>
            </a:r>
            <a:r>
              <a:rPr lang="ru-RU" dirty="0">
                <a:solidFill>
                  <a:srgbClr val="0F1115"/>
                </a:solidFill>
                <a:latin typeface="quote-cjk-patch"/>
              </a:rPr>
              <a:t> проверка расчёта калорий, учёта веса, добавления еды.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0F1115"/>
                </a:solidFill>
                <a:latin typeface="quote-cjk-patch"/>
              </a:rPr>
              <a:t>UI/UX:</a:t>
            </a:r>
            <a:r>
              <a:rPr lang="ru-RU" dirty="0">
                <a:solidFill>
                  <a:srgbClr val="0F1115"/>
                </a:solidFill>
                <a:latin typeface="quote-cjk-patch"/>
              </a:rPr>
              <a:t> удобство навигации, читаемость, адаптивность.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0F1115"/>
                </a:solidFill>
                <a:latin typeface="quote-cjk-patch"/>
              </a:rPr>
              <a:t>Производительность:</a:t>
            </a:r>
            <a:r>
              <a:rPr lang="ru-RU" dirty="0">
                <a:solidFill>
                  <a:srgbClr val="0F1115"/>
                </a:solidFill>
                <a:latin typeface="quote-cjk-patch"/>
              </a:rPr>
              <a:t> быстрая работа с базой данных, плавная прокрутка.</a:t>
            </a:r>
          </a:p>
          <a:p>
            <a:r>
              <a:rPr lang="ru-RU" b="1" dirty="0">
                <a:solidFill>
                  <a:srgbClr val="0F1115"/>
                </a:solidFill>
                <a:latin typeface="quote-cjk-patch"/>
              </a:rPr>
              <a:t>Оптимизация:</a:t>
            </a:r>
            <a:endParaRPr lang="ru-RU" dirty="0">
              <a:solidFill>
                <a:srgbClr val="0F1115"/>
              </a:solidFill>
              <a:latin typeface="quote-cjk-patch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F1115"/>
                </a:solidFill>
                <a:latin typeface="quote-cjk-patch"/>
              </a:rPr>
              <a:t>Эффективные запросы к </a:t>
            </a:r>
            <a:r>
              <a:rPr lang="ru-RU" dirty="0" err="1">
                <a:solidFill>
                  <a:srgbClr val="0F1115"/>
                </a:solidFill>
                <a:latin typeface="quote-cjk-patch"/>
              </a:rPr>
              <a:t>SQLite</a:t>
            </a:r>
            <a:r>
              <a:rPr lang="ru-RU" dirty="0">
                <a:solidFill>
                  <a:srgbClr val="0F1115"/>
                </a:solidFill>
                <a:latin typeface="quote-cjk-patch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F1115"/>
                </a:solidFill>
                <a:latin typeface="quote-cjk-patch"/>
              </a:rPr>
              <a:t>Кэширование данных для уменьшения нагрузки.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F1115"/>
                </a:solidFill>
                <a:latin typeface="quote-cjk-patch"/>
              </a:rPr>
              <a:t>Оптимизация графиков для быстрой </a:t>
            </a:r>
            <a:r>
              <a:rPr lang="ru-RU" dirty="0" err="1">
                <a:solidFill>
                  <a:srgbClr val="0F1115"/>
                </a:solidFill>
                <a:latin typeface="quote-cjk-patch"/>
              </a:rPr>
              <a:t>отрисовки</a:t>
            </a:r>
            <a:r>
              <a:rPr lang="ru-RU" dirty="0">
                <a:solidFill>
                  <a:srgbClr val="0F1115"/>
                </a:solidFill>
                <a:latin typeface="quote-cjk-patch"/>
              </a:rPr>
              <a:t>.</a:t>
            </a:r>
          </a:p>
          <a:p>
            <a:r>
              <a:rPr lang="ru-RU" b="1" dirty="0">
                <a:solidFill>
                  <a:srgbClr val="0F1115"/>
                </a:solidFill>
                <a:latin typeface="quote-cjk-patch"/>
              </a:rPr>
              <a:t>Результат:</a:t>
            </a:r>
            <a:r>
              <a:rPr lang="ru-RU" dirty="0">
                <a:solidFill>
                  <a:srgbClr val="0F1115"/>
                </a:solidFill>
                <a:latin typeface="quote-cjk-patch"/>
              </a:rPr>
              <a:t> Приложение работает стабильно, не требует интернета, подходит для ежедневного использования.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pic>
        <p:nvPicPr>
          <p:cNvPr id="4098" name="Picture 2" descr="159+ Thousand Person On Phone White Background Royalty-Free Images, Stock  Photos &amp; Pictures | Shutterstock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521" r="8065" b="8388"/>
          <a:stretch/>
        </p:blipFill>
        <p:spPr bwMode="auto">
          <a:xfrm>
            <a:off x="996085" y="1527780"/>
            <a:ext cx="4481079" cy="4799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4060815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GroupShape 88">
          <a:extLst>
            <a:ext uri="{FF2B5EF4-FFF2-40B4-BE49-F238E27FC236}">
              <a16:creationId xmlns="" xmlns:a16="http://schemas.microsoft.com/office/drawing/2014/main" id="{B214C9B3-2F76-0BB1-BBB2-0BB71C29A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860C9F54-649D-BCCE-0A55-79BA42A43CD1}"/>
              </a:ext>
            </a:extLst>
          </p:cNvPr>
          <p:cNvSpPr txBox="1"/>
          <p:nvPr/>
        </p:nvSpPr>
        <p:spPr>
          <a:xfrm>
            <a:off x="6096000" y="369935"/>
            <a:ext cx="5657850" cy="445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</a:pPr>
            <a:r>
              <a:rPr lang="ru-RU" sz="3600" b="1" dirty="0">
                <a:solidFill>
                  <a:srgbClr val="F9FAFB"/>
                </a:solidFill>
                <a:effectLst/>
                <a:latin typeface="quote-cjk-patch"/>
              </a:rPr>
              <a:t>СТАТИСТИКА РАЗРАБОТКИ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E958D137-DB66-53C3-6B48-F6E49F066532}"/>
              </a:ext>
            </a:extLst>
          </p:cNvPr>
          <p:cNvSpPr txBox="1"/>
          <p:nvPr/>
        </p:nvSpPr>
        <p:spPr>
          <a:xfrm>
            <a:off x="6533429" y="1823443"/>
            <a:ext cx="5220421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 smtClean="0">
                <a:solidFill>
                  <a:srgbClr val="0F1115"/>
                </a:solidFill>
                <a:latin typeface="quote-cjk-patch"/>
              </a:rPr>
              <a:t>Объём </a:t>
            </a:r>
            <a:r>
              <a:rPr lang="ru-RU" b="1" dirty="0">
                <a:solidFill>
                  <a:srgbClr val="0F1115"/>
                </a:solidFill>
                <a:latin typeface="quote-cjk-patch"/>
              </a:rPr>
              <a:t>кода:</a:t>
            </a:r>
            <a:endParaRPr lang="ru-RU" dirty="0">
              <a:solidFill>
                <a:srgbClr val="0F1115"/>
              </a:solidFill>
              <a:latin typeface="quote-cjk-patch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dirty="0" err="1">
                <a:solidFill>
                  <a:srgbClr val="0F1115"/>
                </a:solidFill>
                <a:latin typeface="quote-cjk-patch"/>
              </a:rPr>
              <a:t>Kotlin</a:t>
            </a:r>
            <a:r>
              <a:rPr lang="ru-RU" dirty="0">
                <a:solidFill>
                  <a:srgbClr val="0F1115"/>
                </a:solidFill>
                <a:latin typeface="quote-cjk-patch"/>
              </a:rPr>
              <a:t>: ~3000 строк.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F1115"/>
                </a:solidFill>
                <a:latin typeface="quote-cjk-patch"/>
              </a:rPr>
              <a:t>XML: ~50 строк (для тем и ресурсов).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F1115"/>
                </a:solidFill>
                <a:latin typeface="quote-cjk-patch"/>
              </a:rPr>
              <a:t>Комментарии: ~500 строк.</a:t>
            </a:r>
          </a:p>
          <a:p>
            <a:r>
              <a:rPr lang="ru-RU" b="1" dirty="0">
                <a:solidFill>
                  <a:srgbClr val="0F1115"/>
                </a:solidFill>
                <a:latin typeface="quote-cjk-patch"/>
              </a:rPr>
              <a:t>Количество файлов:</a:t>
            </a:r>
            <a:endParaRPr lang="ru-RU" dirty="0">
              <a:solidFill>
                <a:srgbClr val="0F1115"/>
              </a:solidFill>
              <a:latin typeface="quote-cjk-patch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F1115"/>
                </a:solidFill>
                <a:latin typeface="quote-cjk-patch"/>
              </a:rPr>
              <a:t>Классы: 15+ (</a:t>
            </a:r>
            <a:r>
              <a:rPr lang="ru-RU" dirty="0" err="1">
                <a:solidFill>
                  <a:srgbClr val="0F1115"/>
                </a:solidFill>
                <a:latin typeface="quote-cjk-patch"/>
              </a:rPr>
              <a:t>Activity</a:t>
            </a:r>
            <a:r>
              <a:rPr lang="ru-RU" dirty="0">
                <a:solidFill>
                  <a:srgbClr val="0F1115"/>
                </a:solidFill>
                <a:latin typeface="quote-cjk-patch"/>
              </a:rPr>
              <a:t>, </a:t>
            </a:r>
            <a:r>
              <a:rPr lang="ru-RU" dirty="0" err="1">
                <a:solidFill>
                  <a:srgbClr val="0F1115"/>
                </a:solidFill>
                <a:latin typeface="quote-cjk-patch"/>
              </a:rPr>
              <a:t>Composable</a:t>
            </a:r>
            <a:r>
              <a:rPr lang="ru-RU" dirty="0">
                <a:solidFill>
                  <a:srgbClr val="0F1115"/>
                </a:solidFill>
                <a:latin typeface="quote-cjk-patch"/>
              </a:rPr>
              <a:t>, </a:t>
            </a:r>
            <a:r>
              <a:rPr lang="ru-RU" dirty="0" err="1">
                <a:solidFill>
                  <a:srgbClr val="0F1115"/>
                </a:solidFill>
                <a:latin typeface="quote-cjk-patch"/>
              </a:rPr>
              <a:t>ViewModel</a:t>
            </a:r>
            <a:r>
              <a:rPr lang="ru-RU" dirty="0">
                <a:solidFill>
                  <a:srgbClr val="0F1115"/>
                </a:solidFill>
                <a:latin typeface="quote-cjk-patch"/>
              </a:rPr>
              <a:t>, менеджеры).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 err="1">
                <a:solidFill>
                  <a:srgbClr val="0F1115"/>
                </a:solidFill>
                <a:latin typeface="quote-cjk-patch"/>
              </a:rPr>
              <a:t>Layout</a:t>
            </a:r>
            <a:r>
              <a:rPr lang="ru-RU" dirty="0">
                <a:solidFill>
                  <a:srgbClr val="0F1115"/>
                </a:solidFill>
                <a:latin typeface="quote-cjk-patch"/>
              </a:rPr>
              <a:t>: 2 (для темы).</a:t>
            </a:r>
          </a:p>
          <a:p>
            <a:r>
              <a:rPr lang="ru-RU" b="1" dirty="0">
                <a:solidFill>
                  <a:srgbClr val="0F1115"/>
                </a:solidFill>
                <a:latin typeface="quote-cjk-patch"/>
              </a:rPr>
              <a:t>Тестовые данные:</a:t>
            </a:r>
            <a:endParaRPr lang="ru-RU" dirty="0">
              <a:solidFill>
                <a:srgbClr val="0F1115"/>
              </a:solidFill>
              <a:latin typeface="quote-cjk-patch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F1115"/>
                </a:solidFill>
                <a:latin typeface="quote-cjk-patch"/>
              </a:rPr>
              <a:t>Пользователи: 2+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F1115"/>
                </a:solidFill>
                <a:latin typeface="quote-cjk-patch"/>
              </a:rPr>
              <a:t>Продукты: 20+ в базе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F1115"/>
                </a:solidFill>
                <a:latin typeface="quote-cjk-patch"/>
              </a:rPr>
              <a:t>Записи веса: 30+</a:t>
            </a:r>
          </a:p>
          <a:p>
            <a:r>
              <a:rPr lang="ru-RU" b="1" dirty="0">
                <a:solidFill>
                  <a:srgbClr val="0F1115"/>
                </a:solidFill>
                <a:latin typeface="quote-cjk-patch"/>
              </a:rPr>
              <a:t>Временные затраты:</a:t>
            </a:r>
            <a:r>
              <a:rPr lang="ru-RU" dirty="0">
                <a:solidFill>
                  <a:srgbClr val="0F1115"/>
                </a:solidFill>
                <a:latin typeface="quote-cjk-patch"/>
              </a:rPr>
              <a:t> </a:t>
            </a:r>
            <a:r>
              <a:rPr lang="ru-RU" dirty="0" smtClean="0">
                <a:solidFill>
                  <a:srgbClr val="0F1115"/>
                </a:solidFill>
                <a:latin typeface="quote-cjk-patch"/>
              </a:rPr>
              <a:t>0.5 </a:t>
            </a:r>
            <a:r>
              <a:rPr lang="ru-RU" dirty="0">
                <a:solidFill>
                  <a:srgbClr val="0F1115"/>
                </a:solidFill>
                <a:latin typeface="quote-cjk-patch"/>
              </a:rPr>
              <a:t>месяца</a:t>
            </a:r>
            <a:br>
              <a:rPr lang="ru-RU" dirty="0">
                <a:solidFill>
                  <a:srgbClr val="0F1115"/>
                </a:solidFill>
                <a:latin typeface="quote-cjk-patch"/>
              </a:rPr>
            </a:br>
            <a:r>
              <a:rPr lang="ru-RU" b="1" dirty="0">
                <a:solidFill>
                  <a:srgbClr val="0F1115"/>
                </a:solidFill>
                <a:latin typeface="quote-cjk-patch"/>
              </a:rPr>
              <a:t>Количество спринтов:</a:t>
            </a:r>
            <a:r>
              <a:rPr lang="ru-RU" dirty="0">
                <a:solidFill>
                  <a:srgbClr val="0F1115"/>
                </a:solidFill>
                <a:latin typeface="quote-cjk-patch"/>
              </a:rPr>
              <a:t> 6</a:t>
            </a:r>
            <a:br>
              <a:rPr lang="ru-RU" dirty="0">
                <a:solidFill>
                  <a:srgbClr val="0F1115"/>
                </a:solidFill>
                <a:latin typeface="quote-cjk-patch"/>
              </a:rPr>
            </a:br>
            <a:r>
              <a:rPr lang="ru-RU" b="1" dirty="0">
                <a:solidFill>
                  <a:srgbClr val="0F1115"/>
                </a:solidFill>
                <a:latin typeface="quote-cjk-patch"/>
              </a:rPr>
              <a:t>Общее время разработки:</a:t>
            </a:r>
            <a:r>
              <a:rPr lang="ru-RU" dirty="0">
                <a:solidFill>
                  <a:srgbClr val="0F1115"/>
                </a:solidFill>
                <a:latin typeface="quote-cjk-patch"/>
              </a:rPr>
              <a:t> ~60 часов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pic>
        <p:nvPicPr>
          <p:cNvPr id="5122" name="Picture 2" descr="Boy showing a phone stock photo. Image of smartphone - 8658417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04" r="20345"/>
          <a:stretch/>
        </p:blipFill>
        <p:spPr bwMode="auto">
          <a:xfrm>
            <a:off x="930852" y="1403927"/>
            <a:ext cx="4812146" cy="5086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7247159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GroupShape 88">
          <a:extLst>
            <a:ext uri="{FF2B5EF4-FFF2-40B4-BE49-F238E27FC236}">
              <a16:creationId xmlns="" xmlns:a16="http://schemas.microsoft.com/office/drawing/2014/main" id="{21E8B62C-D0E9-EAD6-047B-C484D88DB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78EA2B75-4112-5D7A-B61F-AFDFE6C8FDA5}"/>
              </a:ext>
            </a:extLst>
          </p:cNvPr>
          <p:cNvSpPr txBox="1"/>
          <p:nvPr/>
        </p:nvSpPr>
        <p:spPr>
          <a:xfrm>
            <a:off x="7353300" y="355647"/>
            <a:ext cx="4681538" cy="445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</a:pPr>
            <a:r>
              <a:rPr lang="ru-RU" sz="3600" b="1" dirty="0">
                <a:solidFill>
                  <a:srgbClr val="F9FAFB"/>
                </a:solidFill>
                <a:effectLst/>
                <a:latin typeface="quote-cjk-patch"/>
              </a:rPr>
              <a:t>ВОПРОСЫ И ОТВЕТЫ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A4195D19-080F-C513-4911-3123344FC0CD}"/>
              </a:ext>
            </a:extLst>
          </p:cNvPr>
          <p:cNvSpPr txBox="1"/>
          <p:nvPr/>
        </p:nvSpPr>
        <p:spPr>
          <a:xfrm>
            <a:off x="5316105" y="1885719"/>
            <a:ext cx="6096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 smtClean="0">
                <a:solidFill>
                  <a:srgbClr val="0F1115"/>
                </a:solidFill>
                <a:latin typeface="quote-cjk-patch"/>
              </a:rPr>
              <a:t>Вопросы и ответы</a:t>
            </a:r>
            <a:endParaRPr lang="ru-RU" dirty="0" smtClean="0">
              <a:solidFill>
                <a:srgbClr val="0F1115"/>
              </a:solidFill>
              <a:latin typeface="quote-cjk-patch"/>
            </a:endParaRPr>
          </a:p>
          <a:p>
            <a:r>
              <a:rPr lang="ru-RU" b="1" dirty="0" smtClean="0">
                <a:solidFill>
                  <a:srgbClr val="0F1115"/>
                </a:solidFill>
                <a:latin typeface="quote-cjk-patch"/>
              </a:rPr>
              <a:t>Как </a:t>
            </a:r>
            <a:r>
              <a:rPr lang="ru-RU" b="1" dirty="0">
                <a:solidFill>
                  <a:srgbClr val="0F1115"/>
                </a:solidFill>
                <a:latin typeface="quote-cjk-patch"/>
              </a:rPr>
              <a:t>обеспечивается безопасность паролей?</a:t>
            </a:r>
            <a:endParaRPr lang="ru-RU" dirty="0">
              <a:solidFill>
                <a:srgbClr val="0F1115"/>
              </a:solidFill>
              <a:latin typeface="quote-cjk-patch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F1115"/>
                </a:solidFill>
                <a:latin typeface="quote-cjk-patch"/>
              </a:rPr>
              <a:t>Используется SHA-256 хеширование. В будущем можно добавить соль и больше итераций.</a:t>
            </a:r>
          </a:p>
          <a:p>
            <a:r>
              <a:rPr lang="ru-RU" b="1" dirty="0">
                <a:solidFill>
                  <a:srgbClr val="0F1115"/>
                </a:solidFill>
                <a:latin typeface="quote-cjk-patch"/>
              </a:rPr>
              <a:t>Можно ли синхронизировать данные между устройствами?</a:t>
            </a:r>
            <a:endParaRPr lang="ru-RU" dirty="0">
              <a:solidFill>
                <a:srgbClr val="0F1115"/>
              </a:solidFill>
              <a:latin typeface="quote-cjk-patch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F1115"/>
                </a:solidFill>
                <a:latin typeface="quote-cjk-patch"/>
              </a:rPr>
              <a:t>В текущей версии нет, приложение работает офлайн. В будущем можно добавить </a:t>
            </a:r>
            <a:r>
              <a:rPr lang="ru-RU" dirty="0" err="1">
                <a:solidFill>
                  <a:srgbClr val="0F1115"/>
                </a:solidFill>
                <a:latin typeface="quote-cjk-patch"/>
              </a:rPr>
              <a:t>Firebase</a:t>
            </a:r>
            <a:r>
              <a:rPr lang="ru-RU" dirty="0">
                <a:solidFill>
                  <a:srgbClr val="0F1115"/>
                </a:solidFill>
                <a:latin typeface="quote-cjk-patch"/>
              </a:rPr>
              <a:t>.</a:t>
            </a:r>
          </a:p>
          <a:p>
            <a:r>
              <a:rPr lang="ru-RU" b="1" dirty="0">
                <a:solidFill>
                  <a:srgbClr val="0F1115"/>
                </a:solidFill>
                <a:latin typeface="quote-cjk-patch"/>
              </a:rPr>
              <a:t>Какие были самые сложные моменты?</a:t>
            </a:r>
            <a:endParaRPr lang="ru-RU" dirty="0">
              <a:solidFill>
                <a:srgbClr val="0F1115"/>
              </a:solidFill>
              <a:latin typeface="quote-cjk-patch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F1115"/>
                </a:solidFill>
                <a:latin typeface="quote-cjk-patch"/>
              </a:rPr>
              <a:t>Реализация графиков с разными интервалами (день, неделя, месяц).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F1115"/>
                </a:solidFill>
                <a:latin typeface="quote-cjk-patch"/>
              </a:rPr>
              <a:t>Расчёт рекомендуемых калорий с учётом всех параметров.</a:t>
            </a:r>
          </a:p>
          <a:p>
            <a:r>
              <a:rPr lang="ru-RU" b="1" dirty="0">
                <a:solidFill>
                  <a:srgbClr val="0F1115"/>
                </a:solidFill>
                <a:latin typeface="quote-cjk-patch"/>
              </a:rPr>
              <a:t>Планируете ли публикацию в </a:t>
            </a:r>
            <a:r>
              <a:rPr lang="ru-RU" b="1" dirty="0" err="1">
                <a:solidFill>
                  <a:srgbClr val="0F1115"/>
                </a:solidFill>
                <a:latin typeface="quote-cjk-patch"/>
              </a:rPr>
              <a:t>Google</a:t>
            </a:r>
            <a:r>
              <a:rPr lang="ru-RU" b="1" dirty="0">
                <a:solidFill>
                  <a:srgbClr val="0F1115"/>
                </a:solidFill>
                <a:latin typeface="quote-cjk-patch"/>
              </a:rPr>
              <a:t> </a:t>
            </a:r>
            <a:r>
              <a:rPr lang="ru-RU" b="1" dirty="0" err="1">
                <a:solidFill>
                  <a:srgbClr val="0F1115"/>
                </a:solidFill>
                <a:latin typeface="quote-cjk-patch"/>
              </a:rPr>
              <a:t>Play</a:t>
            </a:r>
            <a:r>
              <a:rPr lang="ru-RU" b="1" dirty="0">
                <a:solidFill>
                  <a:srgbClr val="0F1115"/>
                </a:solidFill>
                <a:latin typeface="quote-cjk-patch"/>
              </a:rPr>
              <a:t>?</a:t>
            </a:r>
            <a:endParaRPr lang="ru-RU" dirty="0">
              <a:solidFill>
                <a:srgbClr val="0F1115"/>
              </a:solidFill>
              <a:latin typeface="quote-cjk-patch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F1115"/>
                </a:solidFill>
                <a:latin typeface="quote-cjk-patch"/>
              </a:rPr>
              <a:t>Да, после доработки и добавления дополнительных функций.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pic>
        <p:nvPicPr>
          <p:cNvPr id="6146" name="Picture 2" descr="Знак Вопроса — стоковые фотографии и другие картинки Вопросительный знак -  Вопросительный знак, Трёхразмерный, Характеры - iStock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31716"/>
            <a:ext cx="4832322" cy="4832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5545707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GroupShape 88">
          <a:extLst>
            <a:ext uri="{FF2B5EF4-FFF2-40B4-BE49-F238E27FC236}">
              <a16:creationId xmlns="" xmlns:a16="http://schemas.microsoft.com/office/drawing/2014/main" id="{C83E8667-0446-A4A3-AB22-B84F3F7BE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DCBE834C-EA6B-411D-6BAD-50FB689931FC}"/>
              </a:ext>
            </a:extLst>
          </p:cNvPr>
          <p:cNvSpPr txBox="1"/>
          <p:nvPr/>
        </p:nvSpPr>
        <p:spPr>
          <a:xfrm>
            <a:off x="8362949" y="374697"/>
            <a:ext cx="3033713" cy="445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</a:pPr>
            <a:r>
              <a:rPr lang="ru-RU" sz="3600" b="1" dirty="0">
                <a:solidFill>
                  <a:srgbClr val="F9FAFB"/>
                </a:solidFill>
                <a:effectLst/>
                <a:latin typeface="quote-cjk-patch"/>
              </a:rPr>
              <a:t>ЗАКЛЮЧЕНИЕ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A225539D-9131-F500-C5DC-1C8E34D63000}"/>
              </a:ext>
            </a:extLst>
          </p:cNvPr>
          <p:cNvSpPr txBox="1"/>
          <p:nvPr/>
        </p:nvSpPr>
        <p:spPr>
          <a:xfrm>
            <a:off x="1869208" y="982168"/>
            <a:ext cx="1179137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 smtClean="0">
                <a:solidFill>
                  <a:srgbClr val="0F1115"/>
                </a:solidFill>
                <a:latin typeface="quote-cjk-patch"/>
              </a:rPr>
              <a:t>FitAndEat</a:t>
            </a:r>
            <a:r>
              <a:rPr lang="en-US" b="1" dirty="0" smtClean="0">
                <a:solidFill>
                  <a:srgbClr val="0F1115"/>
                </a:solidFill>
                <a:latin typeface="quote-cjk-patch"/>
              </a:rPr>
              <a:t> </a:t>
            </a:r>
            <a:r>
              <a:rPr lang="ru-RU" b="1" dirty="0" smtClean="0">
                <a:solidFill>
                  <a:srgbClr val="0F1115"/>
                </a:solidFill>
                <a:latin typeface="quote-cjk-patch"/>
              </a:rPr>
              <a:t>– </a:t>
            </a:r>
            <a:r>
              <a:rPr lang="ru-RU" b="1" dirty="0">
                <a:solidFill>
                  <a:srgbClr val="0F1115"/>
                </a:solidFill>
                <a:latin typeface="quote-cjk-patch"/>
              </a:rPr>
              <a:t>это:</a:t>
            </a:r>
            <a:endParaRPr lang="ru-RU" dirty="0">
              <a:solidFill>
                <a:srgbClr val="0F1115"/>
              </a:solidFill>
              <a:latin typeface="quote-cjk-patch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0F1115"/>
                </a:solidFill>
                <a:latin typeface="quote-cjk-patch"/>
              </a:rPr>
              <a:t>Практичный инструмент</a:t>
            </a:r>
            <a:r>
              <a:rPr lang="ru-RU" dirty="0">
                <a:solidFill>
                  <a:srgbClr val="0F1115"/>
                </a:solidFill>
                <a:latin typeface="quote-cjk-patch"/>
              </a:rPr>
              <a:t> для контроля питания и веса.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0F1115"/>
                </a:solidFill>
                <a:latin typeface="quote-cjk-patch"/>
              </a:rPr>
              <a:t>Технически грамотное</a:t>
            </a:r>
            <a:r>
              <a:rPr lang="ru-RU" dirty="0">
                <a:solidFill>
                  <a:srgbClr val="0F1115"/>
                </a:solidFill>
                <a:latin typeface="quote-cjk-patch"/>
              </a:rPr>
              <a:t> приложение с современным стеком.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0F1115"/>
                </a:solidFill>
                <a:latin typeface="quote-cjk-patch"/>
              </a:rPr>
              <a:t>Масштабируемая платформа</a:t>
            </a:r>
            <a:r>
              <a:rPr lang="ru-RU" dirty="0">
                <a:solidFill>
                  <a:srgbClr val="0F1115"/>
                </a:solidFill>
                <a:latin typeface="quote-cjk-patch"/>
              </a:rPr>
              <a:t> с потенциалом роста.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0F1115"/>
                </a:solidFill>
                <a:latin typeface="quote-cjk-patch"/>
              </a:rPr>
              <a:t>Учебный проект</a:t>
            </a:r>
            <a:r>
              <a:rPr lang="ru-RU" dirty="0">
                <a:solidFill>
                  <a:srgbClr val="0F1115"/>
                </a:solidFill>
                <a:latin typeface="quote-cjk-patch"/>
              </a:rPr>
              <a:t>, ставший полноценным продуктом.</a:t>
            </a:r>
          </a:p>
          <a:p>
            <a:r>
              <a:rPr lang="ru-RU" b="1" dirty="0">
                <a:solidFill>
                  <a:srgbClr val="0F1115"/>
                </a:solidFill>
                <a:latin typeface="quote-cjk-patch"/>
              </a:rPr>
              <a:t>Приложение готово к использованию и может быть полезно:</a:t>
            </a:r>
            <a:endParaRPr lang="ru-RU" dirty="0">
              <a:solidFill>
                <a:srgbClr val="0F1115"/>
              </a:solidFill>
              <a:latin typeface="quote-cjk-patch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F1115"/>
                </a:solidFill>
                <a:latin typeface="quote-cjk-patch"/>
              </a:rPr>
              <a:t>Всем, кто следит за своим питанием.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F1115"/>
                </a:solidFill>
                <a:latin typeface="quote-cjk-patch"/>
              </a:rPr>
              <a:t>Людям на диете или занимающимся спортом.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F1115"/>
                </a:solidFill>
                <a:latin typeface="quote-cjk-patch"/>
              </a:rPr>
              <a:t>Тем, кто хочет наглядно видеть свой прогресс.</a:t>
            </a:r>
          </a:p>
          <a:p>
            <a:r>
              <a:rPr lang="en-US" b="1" dirty="0" err="1" smtClean="0">
                <a:solidFill>
                  <a:srgbClr val="0F1115"/>
                </a:solidFill>
                <a:latin typeface="quote-cjk-patch"/>
              </a:rPr>
              <a:t>FitAndEat</a:t>
            </a:r>
            <a:r>
              <a:rPr lang="ru-RU" b="1" dirty="0" smtClean="0">
                <a:solidFill>
                  <a:srgbClr val="0F1115"/>
                </a:solidFill>
                <a:latin typeface="quote-cjk-patch"/>
              </a:rPr>
              <a:t>– </a:t>
            </a:r>
            <a:r>
              <a:rPr lang="ru-RU" b="1" dirty="0">
                <a:solidFill>
                  <a:srgbClr val="0F1115"/>
                </a:solidFill>
                <a:latin typeface="quote-cjk-patch"/>
              </a:rPr>
              <a:t>ваш помощник на пути к здоровому образу жизни!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pic>
        <p:nvPicPr>
          <p:cNvPr id="1026" name="Picture 2" descr="человек фоткает монитор - Все шаблоны - Создать мем - Meme-arsenal.co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9402" y="4122248"/>
            <a:ext cx="4450052" cy="2366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3851002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>
            <a:outerShdw>
              <a:srgbClr val="000000">
                <a:alpha val="38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Normal.dotm</Template>
  <TotalTime>473</TotalTime>
  <Words>490</Words>
  <Application>Microsoft Office PowerPoint</Application>
  <DocSecurity>0</DocSecurity>
  <PresentationFormat>Широкоэкранный</PresentationFormat>
  <Paragraphs>118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0" baseType="lpstr">
      <vt:lpstr>Aptos</vt:lpstr>
      <vt:lpstr>Arial</vt:lpstr>
      <vt:lpstr>Calibri</vt:lpstr>
      <vt:lpstr>Calibri Light</vt:lpstr>
      <vt:lpstr>quote-cjk-patch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Елена Мауль</dc:creator>
  <cp:lastModifiedBy>Учетная запись Майкрософт</cp:lastModifiedBy>
  <cp:revision>54</cp:revision>
  <dcterms:modified xsi:type="dcterms:W3CDTF">2025-12-17T17:33:27Z</dcterms:modified>
</cp:coreProperties>
</file>